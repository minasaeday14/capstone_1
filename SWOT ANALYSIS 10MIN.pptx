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A7FD1-866C-703D-A410-810C323D7A8E}" v="201" dt="2026-04-30T20:14:40.179"/>
    <p1510:client id="{A693389E-1E5E-372E-9556-F0740F584D68}" v="283" dt="2026-04-30T20:43:44.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0E67D8-F598-40C7-A3FB-56DC71AB32F0}"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CC5A8FE4-9AB9-43B4-9CAB-1AEF66D2F296}">
      <dgm:prSet/>
      <dgm:spPr/>
      <dgm:t>
        <a:bodyPr/>
        <a:lstStyle/>
        <a:p>
          <a:r>
            <a:rPr lang="en-US"/>
            <a:t>Defend and deepen share in high-performing counties, especially Polk</a:t>
          </a:r>
        </a:p>
      </dgm:t>
    </dgm:pt>
    <dgm:pt modelId="{762F842B-D760-4A22-B78B-AC6D3FD90E70}" type="parTrans" cxnId="{4E4D350C-0185-4A2B-84EC-0634A0C9D8B7}">
      <dgm:prSet/>
      <dgm:spPr/>
      <dgm:t>
        <a:bodyPr/>
        <a:lstStyle/>
        <a:p>
          <a:endParaRPr lang="en-US"/>
        </a:p>
      </dgm:t>
    </dgm:pt>
    <dgm:pt modelId="{42D33087-4402-4AE5-8800-956DA13352A4}" type="sibTrans" cxnId="{4E4D350C-0185-4A2B-84EC-0634A0C9D8B7}">
      <dgm:prSet phldrT="1" phldr="0"/>
      <dgm:spPr/>
      <dgm:t>
        <a:bodyPr/>
        <a:lstStyle/>
        <a:p>
          <a:r>
            <a:rPr lang="en-US"/>
            <a:t>1</a:t>
          </a:r>
        </a:p>
      </dgm:t>
    </dgm:pt>
    <dgm:pt modelId="{89804E5B-118E-4AEC-9C1C-565715BBA714}">
      <dgm:prSet/>
      <dgm:spPr/>
      <dgm:t>
        <a:bodyPr/>
        <a:lstStyle/>
        <a:p>
          <a:r>
            <a:rPr lang="en-US"/>
            <a:t>Prioritize flagship items, led by Fireball Cinnamon Whiskey</a:t>
          </a:r>
        </a:p>
      </dgm:t>
    </dgm:pt>
    <dgm:pt modelId="{766507E6-3FDB-4495-BB08-42393FFBDB55}" type="parTrans" cxnId="{8A6CE467-4337-4DF4-8157-AC2A933978B3}">
      <dgm:prSet/>
      <dgm:spPr/>
      <dgm:t>
        <a:bodyPr/>
        <a:lstStyle/>
        <a:p>
          <a:endParaRPr lang="en-US"/>
        </a:p>
      </dgm:t>
    </dgm:pt>
    <dgm:pt modelId="{19A49D78-6D01-45DA-8A01-516C7FE356D3}" type="sibTrans" cxnId="{8A6CE467-4337-4DF4-8157-AC2A933978B3}">
      <dgm:prSet phldrT="2" phldr="0"/>
      <dgm:spPr/>
      <dgm:t>
        <a:bodyPr/>
        <a:lstStyle/>
        <a:p>
          <a:r>
            <a:rPr lang="en-US"/>
            <a:t>2</a:t>
          </a:r>
        </a:p>
      </dgm:t>
    </dgm:pt>
    <dgm:pt modelId="{5234263E-404E-4696-AD36-CE698930E537}">
      <dgm:prSet/>
      <dgm:spPr/>
      <dgm:t>
        <a:bodyPr/>
        <a:lstStyle/>
        <a:p>
          <a:r>
            <a:rPr lang="en-US"/>
            <a:t>Expand selectively in mid-tier and urban market segments where demand is already visible</a:t>
          </a:r>
        </a:p>
      </dgm:t>
    </dgm:pt>
    <dgm:pt modelId="{D8B7D6F6-90D0-48D1-9F04-C8B82671D9B5}" type="parTrans" cxnId="{C99F9127-E8D9-407D-9EF7-CF69518DE6B1}">
      <dgm:prSet/>
      <dgm:spPr/>
      <dgm:t>
        <a:bodyPr/>
        <a:lstStyle/>
        <a:p>
          <a:endParaRPr lang="en-US"/>
        </a:p>
      </dgm:t>
    </dgm:pt>
    <dgm:pt modelId="{05A5D9B1-36F1-48B5-A454-B942844BE2CD}" type="sibTrans" cxnId="{C99F9127-E8D9-407D-9EF7-CF69518DE6B1}">
      <dgm:prSet phldrT="3" phldr="0"/>
      <dgm:spPr/>
      <dgm:t>
        <a:bodyPr/>
        <a:lstStyle/>
        <a:p>
          <a:r>
            <a:rPr lang="en-US"/>
            <a:t>3</a:t>
          </a:r>
        </a:p>
      </dgm:t>
    </dgm:pt>
    <dgm:pt modelId="{FE5A6082-EBE3-4407-88EA-CB5CA2BF0C92}" type="pres">
      <dgm:prSet presAssocID="{CC0E67D8-F598-40C7-A3FB-56DC71AB32F0}" presName="Name0" presStyleCnt="0">
        <dgm:presLayoutVars>
          <dgm:animLvl val="lvl"/>
          <dgm:resizeHandles val="exact"/>
        </dgm:presLayoutVars>
      </dgm:prSet>
      <dgm:spPr/>
    </dgm:pt>
    <dgm:pt modelId="{B85A39C5-06C9-457B-8F56-46A8EBA3DD6B}" type="pres">
      <dgm:prSet presAssocID="{CC5A8FE4-9AB9-43B4-9CAB-1AEF66D2F296}" presName="compositeNode" presStyleCnt="0">
        <dgm:presLayoutVars>
          <dgm:bulletEnabled val="1"/>
        </dgm:presLayoutVars>
      </dgm:prSet>
      <dgm:spPr/>
    </dgm:pt>
    <dgm:pt modelId="{E91DD348-B6E4-4930-9CEC-DEED177C23E7}" type="pres">
      <dgm:prSet presAssocID="{CC5A8FE4-9AB9-43B4-9CAB-1AEF66D2F296}" presName="bgRect" presStyleLbl="bgAccFollowNode1" presStyleIdx="0" presStyleCnt="3"/>
      <dgm:spPr/>
    </dgm:pt>
    <dgm:pt modelId="{411A7A1B-88B8-4996-9CE2-D1F8E6DA4B25}" type="pres">
      <dgm:prSet presAssocID="{42D33087-4402-4AE5-8800-956DA13352A4}" presName="sibTransNodeCircle" presStyleLbl="alignNode1" presStyleIdx="0" presStyleCnt="6">
        <dgm:presLayoutVars>
          <dgm:chMax val="0"/>
          <dgm:bulletEnabled/>
        </dgm:presLayoutVars>
      </dgm:prSet>
      <dgm:spPr/>
    </dgm:pt>
    <dgm:pt modelId="{7DA27DF4-A7AD-4FE8-B096-27C9CAEEED6A}" type="pres">
      <dgm:prSet presAssocID="{CC5A8FE4-9AB9-43B4-9CAB-1AEF66D2F296}" presName="bottomLine" presStyleLbl="alignNode1" presStyleIdx="1" presStyleCnt="6">
        <dgm:presLayoutVars/>
      </dgm:prSet>
      <dgm:spPr/>
    </dgm:pt>
    <dgm:pt modelId="{381A0E7B-CBB9-4D29-B439-F9E27F05005F}" type="pres">
      <dgm:prSet presAssocID="{CC5A8FE4-9AB9-43B4-9CAB-1AEF66D2F296}" presName="nodeText" presStyleLbl="bgAccFollowNode1" presStyleIdx="0" presStyleCnt="3">
        <dgm:presLayoutVars>
          <dgm:bulletEnabled val="1"/>
        </dgm:presLayoutVars>
      </dgm:prSet>
      <dgm:spPr/>
    </dgm:pt>
    <dgm:pt modelId="{DD1F72A2-0645-4129-B6DE-7D6B0B3F3821}" type="pres">
      <dgm:prSet presAssocID="{42D33087-4402-4AE5-8800-956DA13352A4}" presName="sibTrans" presStyleCnt="0"/>
      <dgm:spPr/>
    </dgm:pt>
    <dgm:pt modelId="{232F39D3-AFBA-479E-8D69-A2193CFA2FD5}" type="pres">
      <dgm:prSet presAssocID="{89804E5B-118E-4AEC-9C1C-565715BBA714}" presName="compositeNode" presStyleCnt="0">
        <dgm:presLayoutVars>
          <dgm:bulletEnabled val="1"/>
        </dgm:presLayoutVars>
      </dgm:prSet>
      <dgm:spPr/>
    </dgm:pt>
    <dgm:pt modelId="{FBCA2C97-6247-48EE-9393-706C85DC977D}" type="pres">
      <dgm:prSet presAssocID="{89804E5B-118E-4AEC-9C1C-565715BBA714}" presName="bgRect" presStyleLbl="bgAccFollowNode1" presStyleIdx="1" presStyleCnt="3"/>
      <dgm:spPr/>
    </dgm:pt>
    <dgm:pt modelId="{EC1A672E-614D-482F-B670-E456F30FAA1F}" type="pres">
      <dgm:prSet presAssocID="{19A49D78-6D01-45DA-8A01-516C7FE356D3}" presName="sibTransNodeCircle" presStyleLbl="alignNode1" presStyleIdx="2" presStyleCnt="6">
        <dgm:presLayoutVars>
          <dgm:chMax val="0"/>
          <dgm:bulletEnabled/>
        </dgm:presLayoutVars>
      </dgm:prSet>
      <dgm:spPr/>
    </dgm:pt>
    <dgm:pt modelId="{56AEA699-728C-4D97-964D-01C7AE41085E}" type="pres">
      <dgm:prSet presAssocID="{89804E5B-118E-4AEC-9C1C-565715BBA714}" presName="bottomLine" presStyleLbl="alignNode1" presStyleIdx="3" presStyleCnt="6">
        <dgm:presLayoutVars/>
      </dgm:prSet>
      <dgm:spPr/>
    </dgm:pt>
    <dgm:pt modelId="{4F0F2F32-2477-49CF-A7B3-B10A966AAE8D}" type="pres">
      <dgm:prSet presAssocID="{89804E5B-118E-4AEC-9C1C-565715BBA714}" presName="nodeText" presStyleLbl="bgAccFollowNode1" presStyleIdx="1" presStyleCnt="3">
        <dgm:presLayoutVars>
          <dgm:bulletEnabled val="1"/>
        </dgm:presLayoutVars>
      </dgm:prSet>
      <dgm:spPr/>
    </dgm:pt>
    <dgm:pt modelId="{2588E76D-FD90-450E-B792-0C2D3FF2C28B}" type="pres">
      <dgm:prSet presAssocID="{19A49D78-6D01-45DA-8A01-516C7FE356D3}" presName="sibTrans" presStyleCnt="0"/>
      <dgm:spPr/>
    </dgm:pt>
    <dgm:pt modelId="{48A9F4C8-AD2D-4460-8BAE-6C5AE89EA4D5}" type="pres">
      <dgm:prSet presAssocID="{5234263E-404E-4696-AD36-CE698930E537}" presName="compositeNode" presStyleCnt="0">
        <dgm:presLayoutVars>
          <dgm:bulletEnabled val="1"/>
        </dgm:presLayoutVars>
      </dgm:prSet>
      <dgm:spPr/>
    </dgm:pt>
    <dgm:pt modelId="{D3BEB1E8-A23F-4128-8B24-484A83936D77}" type="pres">
      <dgm:prSet presAssocID="{5234263E-404E-4696-AD36-CE698930E537}" presName="bgRect" presStyleLbl="bgAccFollowNode1" presStyleIdx="2" presStyleCnt="3"/>
      <dgm:spPr/>
    </dgm:pt>
    <dgm:pt modelId="{780FED5A-6F5A-4DE4-AAFA-C890C7A40A68}" type="pres">
      <dgm:prSet presAssocID="{05A5D9B1-36F1-48B5-A454-B942844BE2CD}" presName="sibTransNodeCircle" presStyleLbl="alignNode1" presStyleIdx="4" presStyleCnt="6">
        <dgm:presLayoutVars>
          <dgm:chMax val="0"/>
          <dgm:bulletEnabled/>
        </dgm:presLayoutVars>
      </dgm:prSet>
      <dgm:spPr/>
    </dgm:pt>
    <dgm:pt modelId="{F526DA66-7E6A-46EA-92C5-4683F5ED235D}" type="pres">
      <dgm:prSet presAssocID="{5234263E-404E-4696-AD36-CE698930E537}" presName="bottomLine" presStyleLbl="alignNode1" presStyleIdx="5" presStyleCnt="6">
        <dgm:presLayoutVars/>
      </dgm:prSet>
      <dgm:spPr/>
    </dgm:pt>
    <dgm:pt modelId="{2CD9EDFC-BCCC-4270-A19C-279F9B396482}" type="pres">
      <dgm:prSet presAssocID="{5234263E-404E-4696-AD36-CE698930E537}" presName="nodeText" presStyleLbl="bgAccFollowNode1" presStyleIdx="2" presStyleCnt="3">
        <dgm:presLayoutVars>
          <dgm:bulletEnabled val="1"/>
        </dgm:presLayoutVars>
      </dgm:prSet>
      <dgm:spPr/>
    </dgm:pt>
  </dgm:ptLst>
  <dgm:cxnLst>
    <dgm:cxn modelId="{4E4D350C-0185-4A2B-84EC-0634A0C9D8B7}" srcId="{CC0E67D8-F598-40C7-A3FB-56DC71AB32F0}" destId="{CC5A8FE4-9AB9-43B4-9CAB-1AEF66D2F296}" srcOrd="0" destOrd="0" parTransId="{762F842B-D760-4A22-B78B-AC6D3FD90E70}" sibTransId="{42D33087-4402-4AE5-8800-956DA13352A4}"/>
    <dgm:cxn modelId="{5D63B612-F506-49F0-8EB4-F1B00442A150}" type="presOf" srcId="{CC5A8FE4-9AB9-43B4-9CAB-1AEF66D2F296}" destId="{E91DD348-B6E4-4930-9CEC-DEED177C23E7}" srcOrd="0" destOrd="0" presId="urn:microsoft.com/office/officeart/2016/7/layout/BasicLinearProcessNumbered"/>
    <dgm:cxn modelId="{CEA2B21C-1A96-4A4F-BC50-28279A67F959}" type="presOf" srcId="{42D33087-4402-4AE5-8800-956DA13352A4}" destId="{411A7A1B-88B8-4996-9CE2-D1F8E6DA4B25}" srcOrd="0" destOrd="0" presId="urn:microsoft.com/office/officeart/2016/7/layout/BasicLinearProcessNumbered"/>
    <dgm:cxn modelId="{C99F9127-E8D9-407D-9EF7-CF69518DE6B1}" srcId="{CC0E67D8-F598-40C7-A3FB-56DC71AB32F0}" destId="{5234263E-404E-4696-AD36-CE698930E537}" srcOrd="2" destOrd="0" parTransId="{D8B7D6F6-90D0-48D1-9F04-C8B82671D9B5}" sibTransId="{05A5D9B1-36F1-48B5-A454-B942844BE2CD}"/>
    <dgm:cxn modelId="{E9B54332-E2AB-4C14-B7B0-C75933E41442}" type="presOf" srcId="{05A5D9B1-36F1-48B5-A454-B942844BE2CD}" destId="{780FED5A-6F5A-4DE4-AAFA-C890C7A40A68}" srcOrd="0" destOrd="0" presId="urn:microsoft.com/office/officeart/2016/7/layout/BasicLinearProcessNumbered"/>
    <dgm:cxn modelId="{FD78B25C-00D3-47F9-B261-CA75AB4084EA}" type="presOf" srcId="{89804E5B-118E-4AEC-9C1C-565715BBA714}" destId="{4F0F2F32-2477-49CF-A7B3-B10A966AAE8D}" srcOrd="1" destOrd="0" presId="urn:microsoft.com/office/officeart/2016/7/layout/BasicLinearProcessNumbered"/>
    <dgm:cxn modelId="{8A6CE467-4337-4DF4-8157-AC2A933978B3}" srcId="{CC0E67D8-F598-40C7-A3FB-56DC71AB32F0}" destId="{89804E5B-118E-4AEC-9C1C-565715BBA714}" srcOrd="1" destOrd="0" parTransId="{766507E6-3FDB-4495-BB08-42393FFBDB55}" sibTransId="{19A49D78-6D01-45DA-8A01-516C7FE356D3}"/>
    <dgm:cxn modelId="{77F1016C-FBD3-41FC-BDB2-5D642F0EF388}" type="presOf" srcId="{5234263E-404E-4696-AD36-CE698930E537}" destId="{2CD9EDFC-BCCC-4270-A19C-279F9B396482}" srcOrd="1" destOrd="0" presId="urn:microsoft.com/office/officeart/2016/7/layout/BasicLinearProcessNumbered"/>
    <dgm:cxn modelId="{54ABAC79-ACEE-40AE-9B05-93C086E78ABA}" type="presOf" srcId="{CC0E67D8-F598-40C7-A3FB-56DC71AB32F0}" destId="{FE5A6082-EBE3-4407-88EA-CB5CA2BF0C92}" srcOrd="0" destOrd="0" presId="urn:microsoft.com/office/officeart/2016/7/layout/BasicLinearProcessNumbered"/>
    <dgm:cxn modelId="{58FF1287-91F5-481B-BCE1-9AAAD21C3DA3}" type="presOf" srcId="{5234263E-404E-4696-AD36-CE698930E537}" destId="{D3BEB1E8-A23F-4128-8B24-484A83936D77}" srcOrd="0" destOrd="0" presId="urn:microsoft.com/office/officeart/2016/7/layout/BasicLinearProcessNumbered"/>
    <dgm:cxn modelId="{DE61D38F-D36F-4085-81C5-074954141E02}" type="presOf" srcId="{CC5A8FE4-9AB9-43B4-9CAB-1AEF66D2F296}" destId="{381A0E7B-CBB9-4D29-B439-F9E27F05005F}" srcOrd="1" destOrd="0" presId="urn:microsoft.com/office/officeart/2016/7/layout/BasicLinearProcessNumbered"/>
    <dgm:cxn modelId="{7E3CD79F-C7E1-476B-89C6-E11F76D1CC12}" type="presOf" srcId="{19A49D78-6D01-45DA-8A01-516C7FE356D3}" destId="{EC1A672E-614D-482F-B670-E456F30FAA1F}" srcOrd="0" destOrd="0" presId="urn:microsoft.com/office/officeart/2016/7/layout/BasicLinearProcessNumbered"/>
    <dgm:cxn modelId="{A1AC3ED2-478F-478F-875E-80388EF8048C}" type="presOf" srcId="{89804E5B-118E-4AEC-9C1C-565715BBA714}" destId="{FBCA2C97-6247-48EE-9393-706C85DC977D}" srcOrd="0" destOrd="0" presId="urn:microsoft.com/office/officeart/2016/7/layout/BasicLinearProcessNumbered"/>
    <dgm:cxn modelId="{01E690A7-BE5F-472D-8CD5-DF489C25C035}" type="presParOf" srcId="{FE5A6082-EBE3-4407-88EA-CB5CA2BF0C92}" destId="{B85A39C5-06C9-457B-8F56-46A8EBA3DD6B}" srcOrd="0" destOrd="0" presId="urn:microsoft.com/office/officeart/2016/7/layout/BasicLinearProcessNumbered"/>
    <dgm:cxn modelId="{BEB7AEA7-AD4F-483C-8BCB-68252339C774}" type="presParOf" srcId="{B85A39C5-06C9-457B-8F56-46A8EBA3DD6B}" destId="{E91DD348-B6E4-4930-9CEC-DEED177C23E7}" srcOrd="0" destOrd="0" presId="urn:microsoft.com/office/officeart/2016/7/layout/BasicLinearProcessNumbered"/>
    <dgm:cxn modelId="{41EC2D3B-12C7-4B8D-AA54-80C1F11F66FA}" type="presParOf" srcId="{B85A39C5-06C9-457B-8F56-46A8EBA3DD6B}" destId="{411A7A1B-88B8-4996-9CE2-D1F8E6DA4B25}" srcOrd="1" destOrd="0" presId="urn:microsoft.com/office/officeart/2016/7/layout/BasicLinearProcessNumbered"/>
    <dgm:cxn modelId="{113C3D27-D921-4899-BDC3-497C1CFDCC84}" type="presParOf" srcId="{B85A39C5-06C9-457B-8F56-46A8EBA3DD6B}" destId="{7DA27DF4-A7AD-4FE8-B096-27C9CAEEED6A}" srcOrd="2" destOrd="0" presId="urn:microsoft.com/office/officeart/2016/7/layout/BasicLinearProcessNumbered"/>
    <dgm:cxn modelId="{54419195-4A57-4AFC-8C8D-58648F3ADEBF}" type="presParOf" srcId="{B85A39C5-06C9-457B-8F56-46A8EBA3DD6B}" destId="{381A0E7B-CBB9-4D29-B439-F9E27F05005F}" srcOrd="3" destOrd="0" presId="urn:microsoft.com/office/officeart/2016/7/layout/BasicLinearProcessNumbered"/>
    <dgm:cxn modelId="{CD250528-FBD7-477F-B2DF-F5EC07145A27}" type="presParOf" srcId="{FE5A6082-EBE3-4407-88EA-CB5CA2BF0C92}" destId="{DD1F72A2-0645-4129-B6DE-7D6B0B3F3821}" srcOrd="1" destOrd="0" presId="urn:microsoft.com/office/officeart/2016/7/layout/BasicLinearProcessNumbered"/>
    <dgm:cxn modelId="{6EA81240-0AB2-437B-9AF3-17E406B2937B}" type="presParOf" srcId="{FE5A6082-EBE3-4407-88EA-CB5CA2BF0C92}" destId="{232F39D3-AFBA-479E-8D69-A2193CFA2FD5}" srcOrd="2" destOrd="0" presId="urn:microsoft.com/office/officeart/2016/7/layout/BasicLinearProcessNumbered"/>
    <dgm:cxn modelId="{0D271D22-DE89-4A01-BF33-7E90090E35A8}" type="presParOf" srcId="{232F39D3-AFBA-479E-8D69-A2193CFA2FD5}" destId="{FBCA2C97-6247-48EE-9393-706C85DC977D}" srcOrd="0" destOrd="0" presId="urn:microsoft.com/office/officeart/2016/7/layout/BasicLinearProcessNumbered"/>
    <dgm:cxn modelId="{7B6341F5-3739-4EF9-BAD1-65BD6136916E}" type="presParOf" srcId="{232F39D3-AFBA-479E-8D69-A2193CFA2FD5}" destId="{EC1A672E-614D-482F-B670-E456F30FAA1F}" srcOrd="1" destOrd="0" presId="urn:microsoft.com/office/officeart/2016/7/layout/BasicLinearProcessNumbered"/>
    <dgm:cxn modelId="{64095F4D-96D5-4576-A8FE-3C998C8AA4BF}" type="presParOf" srcId="{232F39D3-AFBA-479E-8D69-A2193CFA2FD5}" destId="{56AEA699-728C-4D97-964D-01C7AE41085E}" srcOrd="2" destOrd="0" presId="urn:microsoft.com/office/officeart/2016/7/layout/BasicLinearProcessNumbered"/>
    <dgm:cxn modelId="{CCB69DE2-C00B-40B0-B14A-1973188D73B0}" type="presParOf" srcId="{232F39D3-AFBA-479E-8D69-A2193CFA2FD5}" destId="{4F0F2F32-2477-49CF-A7B3-B10A966AAE8D}" srcOrd="3" destOrd="0" presId="urn:microsoft.com/office/officeart/2016/7/layout/BasicLinearProcessNumbered"/>
    <dgm:cxn modelId="{761FA04A-34AC-4590-A2B5-AECB0DC4F526}" type="presParOf" srcId="{FE5A6082-EBE3-4407-88EA-CB5CA2BF0C92}" destId="{2588E76D-FD90-450E-B792-0C2D3FF2C28B}" srcOrd="3" destOrd="0" presId="urn:microsoft.com/office/officeart/2016/7/layout/BasicLinearProcessNumbered"/>
    <dgm:cxn modelId="{27B57C12-8517-4B8B-8F34-6ECFB8F5B8B5}" type="presParOf" srcId="{FE5A6082-EBE3-4407-88EA-CB5CA2BF0C92}" destId="{48A9F4C8-AD2D-4460-8BAE-6C5AE89EA4D5}" srcOrd="4" destOrd="0" presId="urn:microsoft.com/office/officeart/2016/7/layout/BasicLinearProcessNumbered"/>
    <dgm:cxn modelId="{64757513-8D04-453B-8613-0D98AB45B38E}" type="presParOf" srcId="{48A9F4C8-AD2D-4460-8BAE-6C5AE89EA4D5}" destId="{D3BEB1E8-A23F-4128-8B24-484A83936D77}" srcOrd="0" destOrd="0" presId="urn:microsoft.com/office/officeart/2016/7/layout/BasicLinearProcessNumbered"/>
    <dgm:cxn modelId="{EFEAC639-08C6-4D03-9570-8FDE7CFD91C6}" type="presParOf" srcId="{48A9F4C8-AD2D-4460-8BAE-6C5AE89EA4D5}" destId="{780FED5A-6F5A-4DE4-AAFA-C890C7A40A68}" srcOrd="1" destOrd="0" presId="urn:microsoft.com/office/officeart/2016/7/layout/BasicLinearProcessNumbered"/>
    <dgm:cxn modelId="{538165F0-B20A-4ADA-A1FA-592DE645EA18}" type="presParOf" srcId="{48A9F4C8-AD2D-4460-8BAE-6C5AE89EA4D5}" destId="{F526DA66-7E6A-46EA-92C5-4683F5ED235D}" srcOrd="2" destOrd="0" presId="urn:microsoft.com/office/officeart/2016/7/layout/BasicLinearProcessNumbered"/>
    <dgm:cxn modelId="{0591CB19-A571-467F-85C3-6B8F4A089CCC}" type="presParOf" srcId="{48A9F4C8-AD2D-4460-8BAE-6C5AE89EA4D5}" destId="{2CD9EDFC-BCCC-4270-A19C-279F9B396482}"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1DD348-B6E4-4930-9CEC-DEED177C23E7}">
      <dsp:nvSpPr>
        <dsp:cNvPr id="0" name=""/>
        <dsp:cNvSpPr/>
      </dsp:nvSpPr>
      <dsp:spPr>
        <a:xfrm>
          <a:off x="0" y="0"/>
          <a:ext cx="3446859" cy="3814281"/>
        </a:xfrm>
        <a:prstGeom prst="rect">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8731" tIns="330200" rIns="268731" bIns="330200" numCol="1" spcCol="1270" anchor="t" anchorCtr="0">
          <a:noAutofit/>
        </a:bodyPr>
        <a:lstStyle/>
        <a:p>
          <a:pPr marL="0" lvl="0" indent="0" algn="l" defTabSz="1111250">
            <a:lnSpc>
              <a:spcPct val="90000"/>
            </a:lnSpc>
            <a:spcBef>
              <a:spcPct val="0"/>
            </a:spcBef>
            <a:spcAft>
              <a:spcPct val="35000"/>
            </a:spcAft>
            <a:buNone/>
          </a:pPr>
          <a:r>
            <a:rPr lang="en-US" sz="2500" kern="1200"/>
            <a:t>Defend and deepen share in high-performing counties, especially Polk</a:t>
          </a:r>
        </a:p>
      </dsp:txBody>
      <dsp:txXfrm>
        <a:off x="0" y="1449426"/>
        <a:ext cx="3446859" cy="2288568"/>
      </dsp:txXfrm>
    </dsp:sp>
    <dsp:sp modelId="{411A7A1B-88B8-4996-9CE2-D1F8E6DA4B25}">
      <dsp:nvSpPr>
        <dsp:cNvPr id="0" name=""/>
        <dsp:cNvSpPr/>
      </dsp:nvSpPr>
      <dsp:spPr>
        <a:xfrm>
          <a:off x="1151287" y="381428"/>
          <a:ext cx="1144284" cy="1144284"/>
        </a:xfrm>
        <a:prstGeom prst="ellipse">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213" tIns="12700" rIns="89213"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318864" y="549005"/>
        <a:ext cx="809130" cy="809130"/>
      </dsp:txXfrm>
    </dsp:sp>
    <dsp:sp modelId="{7DA27DF4-A7AD-4FE8-B096-27C9CAEEED6A}">
      <dsp:nvSpPr>
        <dsp:cNvPr id="0" name=""/>
        <dsp:cNvSpPr/>
      </dsp:nvSpPr>
      <dsp:spPr>
        <a:xfrm>
          <a:off x="0" y="3814209"/>
          <a:ext cx="3446859" cy="72"/>
        </a:xfrm>
        <a:prstGeom prst="rect">
          <a:avLst/>
        </a:prstGeom>
        <a:solidFill>
          <a:schemeClr val="accent2">
            <a:hueOff val="1858335"/>
            <a:satOff val="-9522"/>
            <a:lumOff val="-4824"/>
            <a:alphaOff val="0"/>
          </a:schemeClr>
        </a:solidFill>
        <a:ln w="22225" cap="rnd" cmpd="sng" algn="ctr">
          <a:solidFill>
            <a:schemeClr val="accent2">
              <a:hueOff val="1858335"/>
              <a:satOff val="-9522"/>
              <a:lumOff val="-48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CA2C97-6247-48EE-9393-706C85DC977D}">
      <dsp:nvSpPr>
        <dsp:cNvPr id="0" name=""/>
        <dsp:cNvSpPr/>
      </dsp:nvSpPr>
      <dsp:spPr>
        <a:xfrm>
          <a:off x="3791545" y="0"/>
          <a:ext cx="3446859" cy="3814281"/>
        </a:xfrm>
        <a:prstGeom prst="rect">
          <a:avLst/>
        </a:prstGeom>
        <a:solidFill>
          <a:schemeClr val="accent2">
            <a:tint val="40000"/>
            <a:alpha val="90000"/>
            <a:hueOff val="4874071"/>
            <a:satOff val="-26624"/>
            <a:lumOff val="-3161"/>
            <a:alphaOff val="0"/>
          </a:schemeClr>
        </a:solidFill>
        <a:ln w="22225" cap="rnd" cmpd="sng" algn="ctr">
          <a:solidFill>
            <a:schemeClr val="accent2">
              <a:tint val="40000"/>
              <a:alpha val="90000"/>
              <a:hueOff val="4874071"/>
              <a:satOff val="-26624"/>
              <a:lumOff val="-31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8731" tIns="330200" rIns="268731" bIns="330200" numCol="1" spcCol="1270" anchor="t" anchorCtr="0">
          <a:noAutofit/>
        </a:bodyPr>
        <a:lstStyle/>
        <a:p>
          <a:pPr marL="0" lvl="0" indent="0" algn="l" defTabSz="1111250">
            <a:lnSpc>
              <a:spcPct val="90000"/>
            </a:lnSpc>
            <a:spcBef>
              <a:spcPct val="0"/>
            </a:spcBef>
            <a:spcAft>
              <a:spcPct val="35000"/>
            </a:spcAft>
            <a:buNone/>
          </a:pPr>
          <a:r>
            <a:rPr lang="en-US" sz="2500" kern="1200"/>
            <a:t>Prioritize flagship items, led by Fireball Cinnamon Whiskey</a:t>
          </a:r>
        </a:p>
      </dsp:txBody>
      <dsp:txXfrm>
        <a:off x="3791545" y="1449426"/>
        <a:ext cx="3446859" cy="2288568"/>
      </dsp:txXfrm>
    </dsp:sp>
    <dsp:sp modelId="{EC1A672E-614D-482F-B670-E456F30FAA1F}">
      <dsp:nvSpPr>
        <dsp:cNvPr id="0" name=""/>
        <dsp:cNvSpPr/>
      </dsp:nvSpPr>
      <dsp:spPr>
        <a:xfrm>
          <a:off x="4942832" y="381428"/>
          <a:ext cx="1144284" cy="1144284"/>
        </a:xfrm>
        <a:prstGeom prst="ellipse">
          <a:avLst/>
        </a:prstGeom>
        <a:solidFill>
          <a:schemeClr val="accent2">
            <a:hueOff val="3716670"/>
            <a:satOff val="-19045"/>
            <a:lumOff val="-9647"/>
            <a:alphaOff val="0"/>
          </a:schemeClr>
        </a:solidFill>
        <a:ln w="22225" cap="rnd" cmpd="sng" algn="ctr">
          <a:solidFill>
            <a:schemeClr val="accent2">
              <a:hueOff val="3716670"/>
              <a:satOff val="-19045"/>
              <a:lumOff val="-964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213" tIns="12700" rIns="89213"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110409" y="549005"/>
        <a:ext cx="809130" cy="809130"/>
      </dsp:txXfrm>
    </dsp:sp>
    <dsp:sp modelId="{56AEA699-728C-4D97-964D-01C7AE41085E}">
      <dsp:nvSpPr>
        <dsp:cNvPr id="0" name=""/>
        <dsp:cNvSpPr/>
      </dsp:nvSpPr>
      <dsp:spPr>
        <a:xfrm>
          <a:off x="3791545" y="3814209"/>
          <a:ext cx="3446859" cy="72"/>
        </a:xfrm>
        <a:prstGeom prst="rect">
          <a:avLst/>
        </a:prstGeom>
        <a:solidFill>
          <a:schemeClr val="accent2">
            <a:hueOff val="5575005"/>
            <a:satOff val="-28567"/>
            <a:lumOff val="-14471"/>
            <a:alphaOff val="0"/>
          </a:schemeClr>
        </a:solidFill>
        <a:ln w="22225" cap="rnd" cmpd="sng" algn="ctr">
          <a:solidFill>
            <a:schemeClr val="accent2">
              <a:hueOff val="5575005"/>
              <a:satOff val="-28567"/>
              <a:lumOff val="-1447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BEB1E8-A23F-4128-8B24-484A83936D77}">
      <dsp:nvSpPr>
        <dsp:cNvPr id="0" name=""/>
        <dsp:cNvSpPr/>
      </dsp:nvSpPr>
      <dsp:spPr>
        <a:xfrm>
          <a:off x="7583090" y="0"/>
          <a:ext cx="3446859" cy="3814281"/>
        </a:xfrm>
        <a:prstGeom prst="rect">
          <a:avLst/>
        </a:prstGeom>
        <a:solidFill>
          <a:schemeClr val="accent2">
            <a:tint val="40000"/>
            <a:alpha val="90000"/>
            <a:hueOff val="9748142"/>
            <a:satOff val="-53248"/>
            <a:lumOff val="-6323"/>
            <a:alphaOff val="0"/>
          </a:schemeClr>
        </a:solidFill>
        <a:ln w="22225" cap="rnd" cmpd="sng" algn="ctr">
          <a:solidFill>
            <a:schemeClr val="accent2">
              <a:tint val="40000"/>
              <a:alpha val="90000"/>
              <a:hueOff val="9748142"/>
              <a:satOff val="-53248"/>
              <a:lumOff val="-63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8731" tIns="330200" rIns="268731" bIns="330200" numCol="1" spcCol="1270" anchor="t" anchorCtr="0">
          <a:noAutofit/>
        </a:bodyPr>
        <a:lstStyle/>
        <a:p>
          <a:pPr marL="0" lvl="0" indent="0" algn="l" defTabSz="1111250">
            <a:lnSpc>
              <a:spcPct val="90000"/>
            </a:lnSpc>
            <a:spcBef>
              <a:spcPct val="0"/>
            </a:spcBef>
            <a:spcAft>
              <a:spcPct val="35000"/>
            </a:spcAft>
            <a:buNone/>
          </a:pPr>
          <a:r>
            <a:rPr lang="en-US" sz="2500" kern="1200"/>
            <a:t>Expand selectively in mid-tier and urban market segments where demand is already visible</a:t>
          </a:r>
        </a:p>
      </dsp:txBody>
      <dsp:txXfrm>
        <a:off x="7583090" y="1449426"/>
        <a:ext cx="3446859" cy="2288568"/>
      </dsp:txXfrm>
    </dsp:sp>
    <dsp:sp modelId="{780FED5A-6F5A-4DE4-AAFA-C890C7A40A68}">
      <dsp:nvSpPr>
        <dsp:cNvPr id="0" name=""/>
        <dsp:cNvSpPr/>
      </dsp:nvSpPr>
      <dsp:spPr>
        <a:xfrm>
          <a:off x="8734378" y="381428"/>
          <a:ext cx="1144284" cy="1144284"/>
        </a:xfrm>
        <a:prstGeom prst="ellipse">
          <a:avLst/>
        </a:prstGeom>
        <a:solidFill>
          <a:schemeClr val="accent2">
            <a:hueOff val="7433340"/>
            <a:satOff val="-38090"/>
            <a:lumOff val="-19294"/>
            <a:alphaOff val="0"/>
          </a:schemeClr>
        </a:solidFill>
        <a:ln w="22225" cap="rnd" cmpd="sng" algn="ctr">
          <a:solidFill>
            <a:schemeClr val="accent2">
              <a:hueOff val="7433340"/>
              <a:satOff val="-38090"/>
              <a:lumOff val="-1929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213" tIns="12700" rIns="89213"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901955" y="549005"/>
        <a:ext cx="809130" cy="809130"/>
      </dsp:txXfrm>
    </dsp:sp>
    <dsp:sp modelId="{F526DA66-7E6A-46EA-92C5-4683F5ED235D}">
      <dsp:nvSpPr>
        <dsp:cNvPr id="0" name=""/>
        <dsp:cNvSpPr/>
      </dsp:nvSpPr>
      <dsp:spPr>
        <a:xfrm>
          <a:off x="7583090" y="3814209"/>
          <a:ext cx="3446859" cy="72"/>
        </a:xfrm>
        <a:prstGeom prst="rect">
          <a:avLst/>
        </a:prstGeom>
        <a:solidFill>
          <a:schemeClr val="accent2">
            <a:hueOff val="9291674"/>
            <a:satOff val="-47612"/>
            <a:lumOff val="-24118"/>
            <a:alphaOff val="0"/>
          </a:schemeClr>
        </a:solidFill>
        <a:ln w="22225" cap="rnd" cmpd="sng" algn="ctr">
          <a:solidFill>
            <a:schemeClr val="accent2">
              <a:hueOff val="9291674"/>
              <a:satOff val="-47612"/>
              <a:lumOff val="-2411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EDE8A7-D9F4-4B35-8CF4-7BE031924BD2}" type="datetimeFigureOut">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18225-0BE6-408A-8201-82F34A7FAA2F}" type="slidenum">
              <a:t>‹#›</a:t>
            </a:fld>
            <a:endParaRPr lang="en-US"/>
          </a:p>
        </p:txBody>
      </p:sp>
    </p:spTree>
    <p:extLst>
      <p:ext uri="{BB962C8B-B14F-4D97-AF65-F5344CB8AC3E}">
        <p14:creationId xmlns:p14="http://schemas.microsoft.com/office/powerpoint/2010/main" val="3969742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This presentation analyzes Sazerac’s sales performance using the Iowa Liquor Sales database and frames the results through a SWOT lens.</a:t>
            </a:r>
            <a:endParaRPr lang="en-US"/>
          </a:p>
          <a:p>
            <a:br>
              <a:rPr lang="en-US" dirty="0"/>
            </a:br>
            <a:endParaRPr lang="en-US" dirty="0"/>
          </a:p>
        </p:txBody>
      </p:sp>
      <p:sp>
        <p:nvSpPr>
          <p:cNvPr id="4" name="Slide Number Placeholder 3"/>
          <p:cNvSpPr>
            <a:spLocks noGrp="1"/>
          </p:cNvSpPr>
          <p:nvPr>
            <p:ph type="sldNum" sz="quarter" idx="5"/>
          </p:nvPr>
        </p:nvSpPr>
        <p:spPr/>
        <p:txBody>
          <a:bodyPr/>
          <a:lstStyle/>
          <a:p>
            <a:fld id="{01218225-0BE6-408A-8201-82F34A7FAA2F}" type="slidenum">
              <a:t>1</a:t>
            </a:fld>
            <a:endParaRPr lang="en-US"/>
          </a:p>
        </p:txBody>
      </p:sp>
    </p:spTree>
    <p:extLst>
      <p:ext uri="{BB962C8B-B14F-4D97-AF65-F5344CB8AC3E}">
        <p14:creationId xmlns:p14="http://schemas.microsoft.com/office/powerpoint/2010/main" val="328892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My goal was to use SQL to translate raw sales data into business findings that are useful for decision-making.</a:t>
            </a:r>
            <a:endParaRPr lang="en-US"/>
          </a:p>
        </p:txBody>
      </p:sp>
      <p:sp>
        <p:nvSpPr>
          <p:cNvPr id="4" name="Slide Number Placeholder 3"/>
          <p:cNvSpPr>
            <a:spLocks noGrp="1"/>
          </p:cNvSpPr>
          <p:nvPr>
            <p:ph type="sldNum" sz="quarter" idx="5"/>
          </p:nvPr>
        </p:nvSpPr>
        <p:spPr/>
        <p:txBody>
          <a:bodyPr/>
          <a:lstStyle/>
          <a:p>
            <a:fld id="{01218225-0BE6-408A-8201-82F34A7FAA2F}" type="slidenum">
              <a:t>2</a:t>
            </a:fld>
            <a:endParaRPr lang="en-US"/>
          </a:p>
        </p:txBody>
      </p:sp>
    </p:spTree>
    <p:extLst>
      <p:ext uri="{BB962C8B-B14F-4D97-AF65-F5344CB8AC3E}">
        <p14:creationId xmlns:p14="http://schemas.microsoft.com/office/powerpoint/2010/main" val="1473277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The analysis combines transaction data with product, store, and county reference tables to evaluate Sazerac from multiple business angles.</a:t>
            </a:r>
            <a:endParaRPr lang="en-US"/>
          </a:p>
        </p:txBody>
      </p:sp>
      <p:sp>
        <p:nvSpPr>
          <p:cNvPr id="4" name="Slide Number Placeholder 3"/>
          <p:cNvSpPr>
            <a:spLocks noGrp="1"/>
          </p:cNvSpPr>
          <p:nvPr>
            <p:ph type="sldNum" sz="quarter" idx="5"/>
          </p:nvPr>
        </p:nvSpPr>
        <p:spPr/>
        <p:txBody>
          <a:bodyPr/>
          <a:lstStyle/>
          <a:p>
            <a:fld id="{01218225-0BE6-408A-8201-82F34A7FAA2F}" type="slidenum">
              <a:t>3</a:t>
            </a:fld>
            <a:endParaRPr lang="en-US"/>
          </a:p>
        </p:txBody>
      </p:sp>
    </p:spTree>
    <p:extLst>
      <p:ext uri="{BB962C8B-B14F-4D97-AF65-F5344CB8AC3E}">
        <p14:creationId xmlns:p14="http://schemas.microsoft.com/office/powerpoint/2010/main" val="1594570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This chart shows where Sazerac performs best geographically. Polk County is the strongest market by a wide margin, followed by other high-revenue counties such as Linn and Scott.</a:t>
            </a:r>
            <a:endParaRPr lang="en-US"/>
          </a:p>
        </p:txBody>
      </p:sp>
      <p:sp>
        <p:nvSpPr>
          <p:cNvPr id="4" name="Slide Number Placeholder 3"/>
          <p:cNvSpPr>
            <a:spLocks noGrp="1"/>
          </p:cNvSpPr>
          <p:nvPr>
            <p:ph type="sldNum" sz="quarter" idx="5"/>
          </p:nvPr>
        </p:nvSpPr>
        <p:spPr/>
        <p:txBody>
          <a:bodyPr/>
          <a:lstStyle/>
          <a:p>
            <a:fld id="{01218225-0BE6-408A-8201-82F34A7FAA2F}" type="slidenum">
              <a:t>4</a:t>
            </a:fld>
            <a:endParaRPr lang="en-US"/>
          </a:p>
        </p:txBody>
      </p:sp>
    </p:spTree>
    <p:extLst>
      <p:ext uri="{BB962C8B-B14F-4D97-AF65-F5344CB8AC3E}">
        <p14:creationId xmlns:p14="http://schemas.microsoft.com/office/powerpoint/2010/main" val="3697431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This result highlights product-level strength. Fireball Cinnamon Whiskey is the dominant revenue driver, which suggests Sazerac benefits from strong flagship-item performance.</a:t>
            </a:r>
            <a:endParaRPr lang="en-US"/>
          </a:p>
        </p:txBody>
      </p:sp>
      <p:sp>
        <p:nvSpPr>
          <p:cNvPr id="4" name="Slide Number Placeholder 3"/>
          <p:cNvSpPr>
            <a:spLocks noGrp="1"/>
          </p:cNvSpPr>
          <p:nvPr>
            <p:ph type="sldNum" sz="quarter" idx="5"/>
          </p:nvPr>
        </p:nvSpPr>
        <p:spPr/>
        <p:txBody>
          <a:bodyPr/>
          <a:lstStyle/>
          <a:p>
            <a:fld id="{01218225-0BE6-408A-8201-82F34A7FAA2F}" type="slidenum">
              <a:t>5</a:t>
            </a:fld>
            <a:endParaRPr lang="en-US"/>
          </a:p>
        </p:txBody>
      </p:sp>
    </p:spTree>
    <p:extLst>
      <p:ext uri="{BB962C8B-B14F-4D97-AF65-F5344CB8AC3E}">
        <p14:creationId xmlns:p14="http://schemas.microsoft.com/office/powerpoint/2010/main" val="3919217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solidFill>
                  <a:srgbClr val="1A1C1F"/>
                </a:solidFill>
                <a:highlight>
                  <a:srgbClr val="FFFFFF"/>
                </a:highlight>
              </a:rPr>
              <a:t>This chart is useful not only for identifying top partners, but also for showing concentration risk. If a few stores account for a disproportionate share of revenue, Sazerac’s performance becomes more exposed to changes at those retail partners.”</a:t>
            </a:r>
            <a:endParaRPr lang="en-US" dirty="0"/>
          </a:p>
        </p:txBody>
      </p:sp>
      <p:sp>
        <p:nvSpPr>
          <p:cNvPr id="4" name="Slide Number Placeholder 3"/>
          <p:cNvSpPr>
            <a:spLocks noGrp="1"/>
          </p:cNvSpPr>
          <p:nvPr>
            <p:ph type="sldNum" sz="quarter" idx="5"/>
          </p:nvPr>
        </p:nvSpPr>
        <p:spPr/>
        <p:txBody>
          <a:bodyPr/>
          <a:lstStyle/>
          <a:p>
            <a:fld id="{01218225-0BE6-408A-8201-82F34A7FAA2F}" type="slidenum">
              <a:rPr lang="en-US"/>
              <a:t>6</a:t>
            </a:fld>
            <a:endParaRPr lang="en-US"/>
          </a:p>
        </p:txBody>
      </p:sp>
    </p:spTree>
    <p:extLst>
      <p:ext uri="{BB962C8B-B14F-4D97-AF65-F5344CB8AC3E}">
        <p14:creationId xmlns:p14="http://schemas.microsoft.com/office/powerpoint/2010/main" val="1696299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This result suggests that observed Sazerac revenue is tied entirely to active stores in the dataset. That reduces visibility into any recovery potential from inactive or closed-store channels.</a:t>
            </a:r>
            <a:endParaRPr lang="en-US"/>
          </a:p>
        </p:txBody>
      </p:sp>
      <p:sp>
        <p:nvSpPr>
          <p:cNvPr id="4" name="Slide Number Placeholder 3"/>
          <p:cNvSpPr>
            <a:spLocks noGrp="1"/>
          </p:cNvSpPr>
          <p:nvPr>
            <p:ph type="sldNum" sz="quarter" idx="5"/>
          </p:nvPr>
        </p:nvSpPr>
        <p:spPr/>
        <p:txBody>
          <a:bodyPr/>
          <a:lstStyle/>
          <a:p>
            <a:fld id="{01218225-0BE6-408A-8201-82F34A7FAA2F}" type="slidenum">
              <a:rPr lang="en-US"/>
              <a:t>7</a:t>
            </a:fld>
            <a:endParaRPr lang="en-US"/>
          </a:p>
        </p:txBody>
      </p:sp>
    </p:spTree>
    <p:extLst>
      <p:ext uri="{BB962C8B-B14F-4D97-AF65-F5344CB8AC3E}">
        <p14:creationId xmlns:p14="http://schemas.microsoft.com/office/powerpoint/2010/main" val="1344861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This chart focuses on the mid-tier bottle cost bracket. The opportunity here is that Sazerac already has products performing in this price segment, so there may be room to strengthen positioning around value-oriented but profitable items.</a:t>
            </a:r>
            <a:endParaRPr lang="en-US"/>
          </a:p>
        </p:txBody>
      </p:sp>
      <p:sp>
        <p:nvSpPr>
          <p:cNvPr id="4" name="Slide Number Placeholder 3"/>
          <p:cNvSpPr>
            <a:spLocks noGrp="1"/>
          </p:cNvSpPr>
          <p:nvPr>
            <p:ph type="sldNum" sz="quarter" idx="5"/>
          </p:nvPr>
        </p:nvSpPr>
        <p:spPr/>
        <p:txBody>
          <a:bodyPr/>
          <a:lstStyle/>
          <a:p>
            <a:fld id="{01218225-0BE6-408A-8201-82F34A7FAA2F}" type="slidenum">
              <a:rPr lang="en-US"/>
              <a:t>8</a:t>
            </a:fld>
            <a:endParaRPr lang="en-US"/>
          </a:p>
        </p:txBody>
      </p:sp>
    </p:spTree>
    <p:extLst>
      <p:ext uri="{BB962C8B-B14F-4D97-AF65-F5344CB8AC3E}">
        <p14:creationId xmlns:p14="http://schemas.microsoft.com/office/powerpoint/2010/main" val="1219557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solidFill>
                  <a:srgbClr val="1A1C1F"/>
                </a:solidFill>
                <a:highlight>
                  <a:srgbClr val="FFFFFF"/>
                </a:highlight>
              </a:rPr>
              <a:t>This urban-market drill-down shows that Des Moines is not just active, but product-selective. A small number of items, especially Fireball Cinnamon Whiskey, appear to carry the strongest revenue performance in this city.</a:t>
            </a:r>
            <a:endParaRPr lang="en-US"/>
          </a:p>
        </p:txBody>
      </p:sp>
      <p:sp>
        <p:nvSpPr>
          <p:cNvPr id="4" name="Slide Number Placeholder 3"/>
          <p:cNvSpPr>
            <a:spLocks noGrp="1"/>
          </p:cNvSpPr>
          <p:nvPr>
            <p:ph type="sldNum" sz="quarter" idx="5"/>
          </p:nvPr>
        </p:nvSpPr>
        <p:spPr/>
        <p:txBody>
          <a:bodyPr/>
          <a:lstStyle/>
          <a:p>
            <a:fld id="{01218225-0BE6-408A-8201-82F34A7FAA2F}" type="slidenum">
              <a:rPr lang="en-US"/>
              <a:t>9</a:t>
            </a:fld>
            <a:endParaRPr lang="en-US"/>
          </a:p>
        </p:txBody>
      </p:sp>
    </p:spTree>
    <p:extLst>
      <p:ext uri="{BB962C8B-B14F-4D97-AF65-F5344CB8AC3E}">
        <p14:creationId xmlns:p14="http://schemas.microsoft.com/office/powerpoint/2010/main" val="2309389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A1C1F"/>
                </a:solidFill>
                <a:highlight>
                  <a:srgbClr val="FFFFFF"/>
                </a:highlight>
              </a:rPr>
              <a:t>This comparison helps frame the competitive environment. Canadian Whiskies materially outperform Blended Whiskies in this dataset, which indicates a stronger substitute category space and highlights where competition for share is most relevant</a:t>
            </a:r>
            <a:endParaRPr lang="en-US" dirty="0"/>
          </a:p>
        </p:txBody>
      </p:sp>
      <p:sp>
        <p:nvSpPr>
          <p:cNvPr id="4" name="Slide Number Placeholder 3"/>
          <p:cNvSpPr>
            <a:spLocks noGrp="1"/>
          </p:cNvSpPr>
          <p:nvPr>
            <p:ph type="sldNum" sz="quarter" idx="5"/>
          </p:nvPr>
        </p:nvSpPr>
        <p:spPr/>
        <p:txBody>
          <a:bodyPr/>
          <a:lstStyle/>
          <a:p>
            <a:fld id="{01218225-0BE6-408A-8201-82F34A7FAA2F}" type="slidenum">
              <a:rPr lang="en-US"/>
              <a:t>10</a:t>
            </a:fld>
            <a:endParaRPr lang="en-US"/>
          </a:p>
        </p:txBody>
      </p:sp>
    </p:spTree>
    <p:extLst>
      <p:ext uri="{BB962C8B-B14F-4D97-AF65-F5344CB8AC3E}">
        <p14:creationId xmlns:p14="http://schemas.microsoft.com/office/powerpoint/2010/main" val="2949575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A1C1F"/>
                </a:solidFill>
                <a:highlight>
                  <a:srgbClr val="FFFFFF"/>
                </a:highlight>
              </a:rPr>
              <a:t>This is important strategically. The analysis did not identify any larger-population counties with zero Sazerac sales, which suggests there may be limited untapped white space in major counties. That means future growth may depend more on share expansion than simple geographic entry</a:t>
            </a:r>
            <a:endParaRPr lang="en-US" dirty="0"/>
          </a:p>
        </p:txBody>
      </p:sp>
      <p:sp>
        <p:nvSpPr>
          <p:cNvPr id="4" name="Slide Number Placeholder 3"/>
          <p:cNvSpPr>
            <a:spLocks noGrp="1"/>
          </p:cNvSpPr>
          <p:nvPr>
            <p:ph type="sldNum" sz="quarter" idx="5"/>
          </p:nvPr>
        </p:nvSpPr>
        <p:spPr/>
        <p:txBody>
          <a:bodyPr/>
          <a:lstStyle/>
          <a:p>
            <a:fld id="{01218225-0BE6-408A-8201-82F34A7FAA2F}" type="slidenum">
              <a:rPr lang="en-US"/>
              <a:t>11</a:t>
            </a:fld>
            <a:endParaRPr lang="en-US"/>
          </a:p>
        </p:txBody>
      </p:sp>
    </p:spTree>
    <p:extLst>
      <p:ext uri="{BB962C8B-B14F-4D97-AF65-F5344CB8AC3E}">
        <p14:creationId xmlns:p14="http://schemas.microsoft.com/office/powerpoint/2010/main" val="934731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A1C1F"/>
                </a:solidFill>
                <a:highlight>
                  <a:srgbClr val="FFFFFF"/>
                </a:highlight>
              </a:rPr>
              <a:t>My recommendation is to protect the core first, especially strong counties and hero products, while using mid-tier pricing and urban-market demand as the main levers for targeted growth.</a:t>
            </a:r>
            <a:endParaRPr lang="en-US"/>
          </a:p>
        </p:txBody>
      </p:sp>
      <p:sp>
        <p:nvSpPr>
          <p:cNvPr id="4" name="Slide Number Placeholder 3"/>
          <p:cNvSpPr>
            <a:spLocks noGrp="1"/>
          </p:cNvSpPr>
          <p:nvPr>
            <p:ph type="sldNum" sz="quarter" idx="5"/>
          </p:nvPr>
        </p:nvSpPr>
        <p:spPr/>
        <p:txBody>
          <a:bodyPr/>
          <a:lstStyle/>
          <a:p>
            <a:fld id="{01218225-0BE6-408A-8201-82F34A7FAA2F}" type="slidenum">
              <a:rPr lang="en-US"/>
              <a:t>12</a:t>
            </a:fld>
            <a:endParaRPr lang="en-US"/>
          </a:p>
        </p:txBody>
      </p:sp>
    </p:spTree>
    <p:extLst>
      <p:ext uri="{BB962C8B-B14F-4D97-AF65-F5344CB8AC3E}">
        <p14:creationId xmlns:p14="http://schemas.microsoft.com/office/powerpoint/2010/main" val="1318270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5" y="3085766"/>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1020431"/>
            <a:ext cx="10993549"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3" y="2495447"/>
            <a:ext cx="10993547" cy="590321"/>
          </a:xfrm>
        </p:spPr>
        <p:txBody>
          <a:bodyPr anchor="t">
            <a:normAutofit/>
          </a:bodyPr>
          <a:lstStyle>
            <a:lvl1pPr marL="0" indent="0" algn="l">
              <a:buNone/>
              <a:defRPr sz="1200"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4/30/2026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6894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4"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4/30/2026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0536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8" y="5141976"/>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4" y="2393952"/>
            <a:ext cx="11029615"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35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4/30/2026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2315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4" y="2228004"/>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41" y="2228004"/>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1458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3" y="2250891"/>
            <a:ext cx="5194769" cy="557784"/>
          </a:xfrm>
        </p:spPr>
        <p:txBody>
          <a:bodyPr anchor="ctr">
            <a:noAutofit/>
          </a:bodyPr>
          <a:lstStyle>
            <a:lvl1pPr marL="0" indent="0">
              <a:buNone/>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81194" y="2926054"/>
            <a:ext cx="519476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4"/>
            <a:ext cx="5194771" cy="553373"/>
          </a:xfrm>
        </p:spPr>
        <p:txBody>
          <a:bodyPr anchor="ctr">
            <a:noAutofit/>
          </a:bodyPr>
          <a:lstStyle>
            <a:lvl1pPr marL="0" marR="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marR="0" lvl="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4"/>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945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5"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3091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8365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1"/>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8" y="933452"/>
            <a:ext cx="3031852"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30" y="1179829"/>
            <a:ext cx="6650991"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8" y="2836654"/>
            <a:ext cx="3031852" cy="3001392"/>
          </a:xfrm>
        </p:spPr>
        <p:txBody>
          <a:bodyPr anchor="t">
            <a:normAutofit/>
          </a:bodyPr>
          <a:lstStyle>
            <a:lvl1pPr marL="0" indent="0" algn="l">
              <a:buNone/>
              <a:defRPr sz="1200">
                <a:solidFill>
                  <a:srgbClr val="FFFFFF"/>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3" y="6456918"/>
            <a:ext cx="2844799" cy="365125"/>
          </a:xfrm>
        </p:spPr>
        <p:txBody>
          <a:bodyPr/>
          <a:lstStyle/>
          <a:p>
            <a:fld id="{D82884F1-FFEA-405F-9602-3DCA865EDA4E}" type="datetime1">
              <a:rPr lang="en-US" smtClean="0"/>
              <a:t>4/30/2026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2"/>
            <a:ext cx="6917211"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1" y="6456918"/>
            <a:ext cx="1052511"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98866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2"/>
            <a:ext cx="11290859" cy="365124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81193" y="5260127"/>
            <a:ext cx="11029617" cy="998148"/>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4/30/2026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26568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81928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5"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5"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1"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4/30/2026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737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4"/>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3" y="6423916"/>
            <a:ext cx="2844799"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ED291B17-9318-49DB-B28B-6E5994AE9581}" type="datetime1">
              <a:rPr lang="en-US" smtClean="0"/>
              <a:t>4/30/2026</a:t>
            </a:fld>
            <a:endParaRPr lang="en-US" dirty="0"/>
          </a:p>
        </p:txBody>
      </p:sp>
      <p:sp>
        <p:nvSpPr>
          <p:cNvPr id="5" name="Footer Placeholder 4"/>
          <p:cNvSpPr>
            <a:spLocks noGrp="1"/>
          </p:cNvSpPr>
          <p:nvPr>
            <p:ph type="ftr" sz="quarter" idx="3"/>
          </p:nvPr>
        </p:nvSpPr>
        <p:spPr>
          <a:xfrm>
            <a:off x="581192" y="6423916"/>
            <a:ext cx="6917211" cy="365125"/>
          </a:xfrm>
          <a:prstGeom prst="rect">
            <a:avLst/>
          </a:prstGeom>
        </p:spPr>
        <p:txBody>
          <a:bodyPr vert="horz" lIns="91440" tIns="45720" rIns="91440" bIns="45720" rtlCol="0" anchor="ctr"/>
          <a:lstStyle>
            <a:lvl1pPr algn="l">
              <a:defRPr sz="675"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1" y="6423916"/>
            <a:ext cx="1052511"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5"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1"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32488453"/>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66" r:id="rId6"/>
    <p:sldLayoutId id="2147483762" r:id="rId7"/>
    <p:sldLayoutId id="2147483763" r:id="rId8"/>
    <p:sldLayoutId id="2147483764" r:id="rId9"/>
    <p:sldLayoutId id="2147483765" r:id="rId10"/>
    <p:sldLayoutId id="2147483767" r:id="rId11"/>
  </p:sldLayoutIdLst>
  <p:hf sldNum="0" hdr="0" ftr="0" dt="0"/>
  <p:txStyles>
    <p:titleStyle>
      <a:lvl1pPr algn="l" defTabSz="457200" rtl="0" eaLnBrk="1" latinLnBrk="0" hangingPunct="1">
        <a:lnSpc>
          <a:spcPct val="100000"/>
        </a:lnSpc>
        <a:spcBef>
          <a:spcPct val="0"/>
        </a:spcBef>
        <a:buNone/>
        <a:defRPr sz="26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5A71294-C247-450A-BB34-6E68648C9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useBgFill="1">
        <p:nvSpPr>
          <p:cNvPr id="11" name="Rectangle 10">
            <a:extLst>
              <a:ext uri="{FF2B5EF4-FFF2-40B4-BE49-F238E27FC236}">
                <a16:creationId xmlns:a16="http://schemas.microsoft.com/office/drawing/2014/main" id="{D36A0BA4-6A63-41D3-B0FA-43799ABC4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a:p>
        </p:txBody>
      </p:sp>
      <p:sp>
        <p:nvSpPr>
          <p:cNvPr id="2" name="Title 1"/>
          <p:cNvSpPr>
            <a:spLocks noGrp="1"/>
          </p:cNvSpPr>
          <p:nvPr>
            <p:ph type="ctrTitle"/>
          </p:nvPr>
        </p:nvSpPr>
        <p:spPr>
          <a:xfrm>
            <a:off x="1959895" y="1614299"/>
            <a:ext cx="5117991" cy="2590064"/>
          </a:xfrm>
        </p:spPr>
        <p:txBody>
          <a:bodyPr anchor="b">
            <a:normAutofit/>
          </a:bodyPr>
          <a:lstStyle/>
          <a:p>
            <a:pPr>
              <a:lnSpc>
                <a:spcPct val="90000"/>
              </a:lnSpc>
            </a:pPr>
            <a:endParaRPr lang="en-US" sz="3150">
              <a:solidFill>
                <a:schemeClr val="tx1"/>
              </a:solidFill>
              <a:highlight>
                <a:srgbClr val="FFFFFF"/>
              </a:highlight>
              <a:latin typeface="Lucida Sans"/>
            </a:endParaRPr>
          </a:p>
          <a:p>
            <a:pPr>
              <a:lnSpc>
                <a:spcPct val="90000"/>
              </a:lnSpc>
            </a:pPr>
            <a:r>
              <a:rPr lang="en-US" sz="3150">
                <a:solidFill>
                  <a:schemeClr val="tx1"/>
                </a:solidFill>
              </a:rPr>
              <a:t>Sazerac SWOT Analysis Using Iowa Liquor Sales Data</a:t>
            </a:r>
            <a:br>
              <a:rPr lang="en-US" sz="3150">
                <a:solidFill>
                  <a:schemeClr val="tx1"/>
                </a:solidFill>
              </a:rPr>
            </a:br>
            <a:endParaRPr lang="en-US" sz="3150">
              <a:solidFill>
                <a:schemeClr val="tx1"/>
              </a:solidFill>
            </a:endParaRPr>
          </a:p>
        </p:txBody>
      </p:sp>
      <p:sp>
        <p:nvSpPr>
          <p:cNvPr id="3" name="Subtitle 2"/>
          <p:cNvSpPr>
            <a:spLocks noGrp="1"/>
          </p:cNvSpPr>
          <p:nvPr>
            <p:ph type="subTitle" idx="1"/>
          </p:nvPr>
        </p:nvSpPr>
        <p:spPr>
          <a:xfrm>
            <a:off x="1959894" y="4286251"/>
            <a:ext cx="5117991" cy="767685"/>
          </a:xfrm>
        </p:spPr>
        <p:txBody>
          <a:bodyPr vert="horz" lIns="68580" tIns="34290" rIns="68580" bIns="34290" rtlCol="0" anchor="t">
            <a:normAutofit/>
          </a:bodyPr>
          <a:lstStyle/>
          <a:p>
            <a:r>
              <a:rPr lang="en-US" sz="2100">
                <a:solidFill>
                  <a:schemeClr val="tx1">
                    <a:alpha val="60000"/>
                  </a:schemeClr>
                </a:solidFill>
              </a:rPr>
              <a:t>By: Mina Saeday</a:t>
            </a:r>
          </a:p>
        </p:txBody>
      </p:sp>
      <p:sp>
        <p:nvSpPr>
          <p:cNvPr id="13" name="Rectangle 12">
            <a:extLst>
              <a:ext uri="{FF2B5EF4-FFF2-40B4-BE49-F238E27FC236}">
                <a16:creationId xmlns:a16="http://schemas.microsoft.com/office/drawing/2014/main" id="{673313D8-D259-4D89-9CE5-14884FB40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2964" y="1200152"/>
            <a:ext cx="5074920" cy="68579"/>
          </a:xfrm>
          <a:prstGeom prst="rect">
            <a:avLst/>
          </a:prstGeom>
          <a:solidFill>
            <a:schemeClr val="tx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a:p>
        </p:txBody>
      </p:sp>
      <p:pic>
        <p:nvPicPr>
          <p:cNvPr id="5" name="Picture 4">
            <a:extLst>
              <a:ext uri="{FF2B5EF4-FFF2-40B4-BE49-F238E27FC236}">
                <a16:creationId xmlns:a16="http://schemas.microsoft.com/office/drawing/2014/main" id="{5EB8E165-700C-42CB-6B8C-A878A3B84841}"/>
              </a:ext>
            </a:extLst>
          </p:cNvPr>
          <p:cNvPicPr>
            <a:picLocks noChangeAspect="1"/>
          </p:cNvPicPr>
          <p:nvPr/>
        </p:nvPicPr>
        <p:blipFill>
          <a:blip r:embed="rId3"/>
          <a:srcRect l="31918" r="29979" b="9"/>
          <a:stretch>
            <a:fillRect/>
          </a:stretch>
        </p:blipFill>
        <p:spPr>
          <a:xfrm>
            <a:off x="7629322" y="857258"/>
            <a:ext cx="3038679" cy="5143493"/>
          </a:xfrm>
          <a:prstGeom prst="rect">
            <a:avLst/>
          </a:prstGeom>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691" y="1308150"/>
            <a:ext cx="5623962" cy="434202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3CADCCB-EED9-5789-4941-56019A78CF18}"/>
              </a:ext>
            </a:extLst>
          </p:cNvPr>
          <p:cNvSpPr>
            <a:spLocks noGrp="1"/>
          </p:cNvSpPr>
          <p:nvPr>
            <p:ph type="title"/>
          </p:nvPr>
        </p:nvSpPr>
        <p:spPr>
          <a:xfrm>
            <a:off x="2129671" y="1560767"/>
            <a:ext cx="4985929" cy="891540"/>
          </a:xfrm>
        </p:spPr>
        <p:txBody>
          <a:bodyPr>
            <a:normAutofit/>
          </a:bodyPr>
          <a:lstStyle/>
          <a:p>
            <a:r>
              <a:rPr lang="en-US">
                <a:solidFill>
                  <a:srgbClr val="FFFFFF"/>
                </a:solidFill>
              </a:rPr>
              <a:t>scenario</a:t>
            </a:r>
          </a:p>
        </p:txBody>
      </p:sp>
      <p:sp>
        <p:nvSpPr>
          <p:cNvPr id="14" name="Rectangle 13">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8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5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288AC00-D883-3AB7-16FE-A73C7BC03657}"/>
              </a:ext>
            </a:extLst>
          </p:cNvPr>
          <p:cNvSpPr>
            <a:spLocks noGrp="1"/>
          </p:cNvSpPr>
          <p:nvPr>
            <p:ph idx="1"/>
          </p:nvPr>
        </p:nvSpPr>
        <p:spPr>
          <a:xfrm>
            <a:off x="2129670" y="2612898"/>
            <a:ext cx="5018132" cy="2844928"/>
          </a:xfrm>
        </p:spPr>
        <p:txBody>
          <a:bodyPr>
            <a:normAutofit/>
          </a:bodyPr>
          <a:lstStyle/>
          <a:p>
            <a:pPr marL="229076" indent="-229076"/>
            <a:r>
              <a:rPr lang="en-US">
                <a:solidFill>
                  <a:srgbClr val="FFFFFF"/>
                </a:solidFill>
              </a:rPr>
              <a:t>Objective:evaluate Szerac's market position using transaction level sales data</a:t>
            </a:r>
          </a:p>
          <a:p>
            <a:pPr marL="229076" indent="-229076"/>
            <a:r>
              <a:rPr lang="en-US">
                <a:solidFill>
                  <a:srgbClr val="FFFFFF"/>
                </a:solidFill>
              </a:rPr>
              <a:t>Method: SQL analysis in PG admin, visual summaries in Excel</a:t>
            </a:r>
          </a:p>
          <a:p>
            <a:pPr marL="229076" indent="-229076"/>
            <a:r>
              <a:rPr lang="en-US">
                <a:solidFill>
                  <a:srgbClr val="FFFFFF"/>
                </a:solidFill>
              </a:rPr>
              <a:t>Focus: strengths,weaknesses,opportunities,and threars tied to revenue,products,geography, and competition</a:t>
            </a:r>
          </a:p>
        </p:txBody>
      </p:sp>
      <p:pic>
        <p:nvPicPr>
          <p:cNvPr id="7" name="Graphic 6" descr="Bar chart">
            <a:extLst>
              <a:ext uri="{FF2B5EF4-FFF2-40B4-BE49-F238E27FC236}">
                <a16:creationId xmlns:a16="http://schemas.microsoft.com/office/drawing/2014/main" id="{19241800-9338-3378-455C-D616EBABEF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1572" y="2394266"/>
            <a:ext cx="2290067" cy="2290067"/>
          </a:xfrm>
          <a:prstGeom prst="rect">
            <a:avLst/>
          </a:prstGeom>
        </p:spPr>
      </p:pic>
    </p:spTree>
    <p:extLst>
      <p:ext uri="{BB962C8B-B14F-4D97-AF65-F5344CB8AC3E}">
        <p14:creationId xmlns:p14="http://schemas.microsoft.com/office/powerpoint/2010/main" val="67503511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2" y="857251"/>
            <a:ext cx="9143999" cy="51435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Rectangle 16">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8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5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8901" y="1305482"/>
            <a:ext cx="2777490" cy="434469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85EBDB6C-710C-02A4-4B1A-24F2834AA77F}"/>
              </a:ext>
            </a:extLst>
          </p:cNvPr>
          <p:cNvSpPr>
            <a:spLocks noGrp="1"/>
          </p:cNvSpPr>
          <p:nvPr>
            <p:ph type="title"/>
          </p:nvPr>
        </p:nvSpPr>
        <p:spPr>
          <a:xfrm>
            <a:off x="2102362" y="1635726"/>
            <a:ext cx="2290568" cy="3531848"/>
          </a:xfrm>
        </p:spPr>
        <p:txBody>
          <a:bodyPr anchor="ctr">
            <a:normAutofit/>
          </a:bodyPr>
          <a:lstStyle/>
          <a:p>
            <a:r>
              <a:rPr lang="en-US">
                <a:solidFill>
                  <a:srgbClr val="FFFEFF"/>
                </a:solidFill>
              </a:rPr>
              <a:t>Summary Stats for DB</a:t>
            </a:r>
          </a:p>
        </p:txBody>
      </p:sp>
      <p:sp>
        <p:nvSpPr>
          <p:cNvPr id="3" name="Content Placeholder 2">
            <a:extLst>
              <a:ext uri="{FF2B5EF4-FFF2-40B4-BE49-F238E27FC236}">
                <a16:creationId xmlns:a16="http://schemas.microsoft.com/office/drawing/2014/main" id="{ED281792-9E83-72C5-2565-392DAED5C114}"/>
              </a:ext>
            </a:extLst>
          </p:cNvPr>
          <p:cNvSpPr>
            <a:spLocks noGrp="1"/>
          </p:cNvSpPr>
          <p:nvPr>
            <p:ph idx="1"/>
          </p:nvPr>
        </p:nvSpPr>
        <p:spPr>
          <a:xfrm>
            <a:off x="4925202" y="1635726"/>
            <a:ext cx="5044424" cy="3615624"/>
          </a:xfrm>
        </p:spPr>
        <p:txBody>
          <a:bodyPr>
            <a:normAutofit/>
          </a:bodyPr>
          <a:lstStyle/>
          <a:p>
            <a:pPr marL="229076" indent="-229076"/>
            <a:r>
              <a:rPr lang="en-US">
                <a:highlight>
                  <a:srgbClr val="FFFFFF"/>
                </a:highlight>
                <a:ea typeface="+mn-lt"/>
                <a:cs typeface="+mn-lt"/>
              </a:rPr>
              <a:t>Database tables used: sales, products, stores, counties</a:t>
            </a:r>
            <a:endParaRPr lang="en-US"/>
          </a:p>
          <a:p>
            <a:pPr marL="229076" indent="-229076"/>
            <a:r>
              <a:rPr lang="en-US">
                <a:highlight>
                  <a:srgbClr val="FFFFFF"/>
                </a:highlight>
                <a:ea typeface="+mn-lt"/>
                <a:cs typeface="+mn-lt"/>
              </a:rPr>
              <a:t>Primary focus: vendor = Sazerac</a:t>
            </a:r>
            <a:endParaRPr lang="en-US"/>
          </a:p>
          <a:p>
            <a:pPr marL="229076" indent="-229076"/>
            <a:r>
              <a:rPr lang="en-US">
                <a:highlight>
                  <a:srgbClr val="FFFFFF"/>
                </a:highlight>
                <a:ea typeface="+mn-lt"/>
                <a:cs typeface="+mn-lt"/>
              </a:rPr>
              <a:t>Key fields analyzed: revenue, product description, county, store, bottle cost, category</a:t>
            </a:r>
            <a:endParaRPr lang="en-US"/>
          </a:p>
          <a:p>
            <a:pPr marL="229076" indent="-229076"/>
            <a:r>
              <a:rPr lang="en-US">
                <a:highlight>
                  <a:srgbClr val="FFFFFF"/>
                </a:highlight>
                <a:ea typeface="+mn-lt"/>
                <a:cs typeface="+mn-lt"/>
              </a:rPr>
              <a:t>Tools used: PostgreSQL/</a:t>
            </a:r>
            <a:r>
              <a:rPr lang="en-US" err="1">
                <a:highlight>
                  <a:srgbClr val="FFFFFF"/>
                </a:highlight>
                <a:ea typeface="+mn-lt"/>
                <a:cs typeface="+mn-lt"/>
              </a:rPr>
              <a:t>pgAdmin</a:t>
            </a:r>
            <a:r>
              <a:rPr lang="en-US">
                <a:highlight>
                  <a:srgbClr val="FFFFFF"/>
                </a:highlight>
                <a:ea typeface="+mn-lt"/>
                <a:cs typeface="+mn-lt"/>
              </a:rPr>
              <a:t> and Excel</a:t>
            </a:r>
            <a:endParaRPr lang="en-US" dirty="0"/>
          </a:p>
          <a:p>
            <a:pPr marL="229076" indent="-229076"/>
            <a:endParaRPr lang="en-US" dirty="0"/>
          </a:p>
        </p:txBody>
      </p:sp>
    </p:spTree>
    <p:extLst>
      <p:ext uri="{BB962C8B-B14F-4D97-AF65-F5344CB8AC3E}">
        <p14:creationId xmlns:p14="http://schemas.microsoft.com/office/powerpoint/2010/main" val="2198547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8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5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11C09D0-DFC4-9041-DED1-70BC366060BB}"/>
              </a:ext>
            </a:extLst>
          </p:cNvPr>
          <p:cNvSpPr>
            <a:spLocks noGrp="1"/>
          </p:cNvSpPr>
          <p:nvPr>
            <p:ph type="title"/>
          </p:nvPr>
        </p:nvSpPr>
        <p:spPr>
          <a:xfrm>
            <a:off x="1981430" y="1383868"/>
            <a:ext cx="2676496" cy="952285"/>
          </a:xfrm>
        </p:spPr>
        <p:txBody>
          <a:bodyPr vert="horz" lIns="68580" tIns="34290" rIns="68580" bIns="34290" rtlCol="0" anchor="b">
            <a:normAutofit/>
          </a:bodyPr>
          <a:lstStyle/>
          <a:p>
            <a:pPr>
              <a:lnSpc>
                <a:spcPct val="90000"/>
              </a:lnSpc>
            </a:pPr>
            <a:r>
              <a:rPr lang="en-US" sz="1125">
                <a:solidFill>
                  <a:schemeClr val="tx1">
                    <a:lumMod val="75000"/>
                    <a:lumOff val="25000"/>
                  </a:schemeClr>
                </a:solidFill>
                <a:highlight>
                  <a:srgbClr val="FFFFFF"/>
                </a:highlight>
              </a:rPr>
              <a:t>Strength: Strong Geographic Performance</a:t>
            </a:r>
            <a:endParaRPr lang="en-US" sz="1125">
              <a:solidFill>
                <a:schemeClr val="tx1">
                  <a:lumMod val="75000"/>
                  <a:lumOff val="25000"/>
                </a:schemeClr>
              </a:solidFill>
            </a:endParaRPr>
          </a:p>
          <a:p>
            <a:pPr>
              <a:lnSpc>
                <a:spcPct val="90000"/>
              </a:lnSpc>
            </a:pPr>
            <a:br>
              <a:rPr lang="en-US" sz="1125">
                <a:solidFill>
                  <a:schemeClr val="tx1">
                    <a:lumMod val="75000"/>
                    <a:lumOff val="25000"/>
                  </a:schemeClr>
                </a:solidFill>
              </a:rPr>
            </a:br>
            <a:endParaRPr lang="en-US" sz="1125">
              <a:solidFill>
                <a:schemeClr val="tx1">
                  <a:lumMod val="75000"/>
                  <a:lumOff val="25000"/>
                </a:schemeClr>
              </a:solidFill>
            </a:endParaRPr>
          </a:p>
        </p:txBody>
      </p:sp>
      <p:sp>
        <p:nvSpPr>
          <p:cNvPr id="18" name="Rectangle 17">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2966" y="1200152"/>
            <a:ext cx="2633425" cy="68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5" name="Text Placeholder 4">
            <a:extLst>
              <a:ext uri="{FF2B5EF4-FFF2-40B4-BE49-F238E27FC236}">
                <a16:creationId xmlns:a16="http://schemas.microsoft.com/office/drawing/2014/main" id="{0B1F8DE7-35C5-39C2-38F4-20AA3010A486}"/>
              </a:ext>
            </a:extLst>
          </p:cNvPr>
          <p:cNvSpPr>
            <a:spLocks noGrp="1"/>
          </p:cNvSpPr>
          <p:nvPr>
            <p:ph type="body" sz="half" idx="2"/>
          </p:nvPr>
        </p:nvSpPr>
        <p:spPr>
          <a:xfrm>
            <a:off x="1981430" y="2612899"/>
            <a:ext cx="2676496" cy="2725865"/>
          </a:xfrm>
        </p:spPr>
        <p:txBody>
          <a:bodyPr vert="horz" lIns="68580" tIns="34290" rIns="68580" bIns="34290" rtlCol="0" anchor="ctr">
            <a:normAutofit fontScale="92500" lnSpcReduction="20000"/>
          </a:bodyPr>
          <a:lstStyle/>
          <a:p>
            <a:pPr>
              <a:buFont typeface="Wingdings 2" panose="05020102010507070707" pitchFamily="18" charset="2"/>
              <a:buChar char=""/>
            </a:pPr>
            <a:endParaRPr lang="en-US">
              <a:solidFill>
                <a:schemeClr val="tx1">
                  <a:lumMod val="75000"/>
                  <a:lumOff val="25000"/>
                </a:schemeClr>
              </a:solidFill>
            </a:endParaRPr>
          </a:p>
          <a:p>
            <a:pPr marL="214313" indent="-214313">
              <a:buFont typeface="Arial"/>
              <a:buChar char="•"/>
            </a:pPr>
            <a:r>
              <a:rPr lang="en-US" sz="2400">
                <a:solidFill>
                  <a:srgbClr val="1A1C1F"/>
                </a:solidFill>
                <a:highlight>
                  <a:srgbClr val="FFFFFF"/>
                </a:highlight>
                <a:ea typeface="+mn-lt"/>
                <a:cs typeface="+mn-lt"/>
              </a:rPr>
              <a:t>Sazerac</a:t>
            </a:r>
            <a:r>
              <a:rPr lang="en-US" sz="2400" dirty="0">
                <a:solidFill>
                  <a:srgbClr val="1A1C1F"/>
                </a:solidFill>
                <a:highlight>
                  <a:srgbClr val="FFFFFF"/>
                </a:highlight>
                <a:ea typeface="+mn-lt"/>
                <a:cs typeface="+mn-lt"/>
              </a:rPr>
              <a:t> revenue is concentrated in high-performing counties, with Polk County clearly leading.</a:t>
            </a:r>
            <a:endParaRPr lang="en-US" sz="2400"/>
          </a:p>
          <a:p>
            <a:br>
              <a:rPr lang="en-US" dirty="0"/>
            </a:br>
            <a:endParaRPr lang="en-US" dirty="0"/>
          </a:p>
        </p:txBody>
      </p:sp>
      <p:pic>
        <p:nvPicPr>
          <p:cNvPr id="4" name="Content Placeholder 3" descr="A graph of sales revenue&#10;&#10;AI-generated content may be incorrect.">
            <a:extLst>
              <a:ext uri="{FF2B5EF4-FFF2-40B4-BE49-F238E27FC236}">
                <a16:creationId xmlns:a16="http://schemas.microsoft.com/office/drawing/2014/main" id="{A2EEBB4F-4B84-2893-95A5-5614DC548A6F}"/>
              </a:ext>
            </a:extLst>
          </p:cNvPr>
          <p:cNvPicPr>
            <a:picLocks noGrp="1" noChangeAspect="1"/>
          </p:cNvPicPr>
          <p:nvPr>
            <p:ph idx="1"/>
          </p:nvPr>
        </p:nvPicPr>
        <p:blipFill>
          <a:blip r:embed="rId3"/>
          <a:stretch>
            <a:fillRect/>
          </a:stretch>
        </p:blipFill>
        <p:spPr>
          <a:xfrm>
            <a:off x="4694255" y="1519481"/>
            <a:ext cx="6098314" cy="4281874"/>
          </a:xfrm>
          <a:prstGeom prst="rect">
            <a:avLst/>
          </a:prstGeom>
        </p:spPr>
      </p:pic>
    </p:spTree>
    <p:extLst>
      <p:ext uri="{BB962C8B-B14F-4D97-AF65-F5344CB8AC3E}">
        <p14:creationId xmlns:p14="http://schemas.microsoft.com/office/powerpoint/2010/main" val="1741001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01CD82F9-AD5E-EEC8-B4D8-79E2E69CF685}"/>
              </a:ext>
            </a:extLst>
          </p:cNvPr>
          <p:cNvSpPr>
            <a:spLocks noGrp="1"/>
          </p:cNvSpPr>
          <p:nvPr>
            <p:ph type="title"/>
          </p:nvPr>
        </p:nvSpPr>
        <p:spPr>
          <a:xfrm>
            <a:off x="2028210" y="1565815"/>
            <a:ext cx="2444262" cy="1097019"/>
          </a:xfrm>
        </p:spPr>
        <p:txBody>
          <a:bodyPr>
            <a:normAutofit/>
          </a:bodyPr>
          <a:lstStyle/>
          <a:p>
            <a:pPr>
              <a:lnSpc>
                <a:spcPct val="90000"/>
              </a:lnSpc>
            </a:pPr>
            <a:r>
              <a:rPr lang="en-US" sz="1800">
                <a:solidFill>
                  <a:schemeClr val="bg1">
                    <a:lumMod val="75000"/>
                    <a:lumOff val="25000"/>
                  </a:schemeClr>
                </a:solidFill>
                <a:highlight>
                  <a:srgbClr val="FFFFFF"/>
                </a:highlight>
                <a:ea typeface="+mj-lt"/>
                <a:cs typeface="+mj-lt"/>
              </a:rPr>
              <a:t>Strength: Clear Hero Products</a:t>
            </a:r>
            <a:endParaRPr lang="en-US" sz="1800">
              <a:solidFill>
                <a:schemeClr val="bg1">
                  <a:lumMod val="75000"/>
                  <a:lumOff val="25000"/>
                </a:schemeClr>
              </a:solidFill>
            </a:endParaRPr>
          </a:p>
          <a:p>
            <a:pPr>
              <a:lnSpc>
                <a:spcPct val="90000"/>
              </a:lnSpc>
            </a:pPr>
            <a:br>
              <a:rPr lang="en-US" sz="1800">
                <a:solidFill>
                  <a:schemeClr val="bg1">
                    <a:lumMod val="75000"/>
                    <a:lumOff val="25000"/>
                  </a:schemeClr>
                </a:solidFill>
              </a:rPr>
            </a:br>
            <a:endParaRPr lang="en-US" sz="1800">
              <a:solidFill>
                <a:schemeClr val="bg1">
                  <a:lumMod val="75000"/>
                  <a:lumOff val="25000"/>
                </a:schemeClr>
              </a:solidFill>
            </a:endParaRPr>
          </a:p>
        </p:txBody>
      </p:sp>
      <p:sp>
        <p:nvSpPr>
          <p:cNvPr id="29" name="Rectangle 28">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8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a:p>
        </p:txBody>
      </p:sp>
      <p:sp>
        <p:nvSpPr>
          <p:cNvPr id="31" name="Rectangle 30">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5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dirty="0"/>
          </a:p>
        </p:txBody>
      </p:sp>
      <p:sp>
        <p:nvSpPr>
          <p:cNvPr id="33" name="Rectangle 32">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a:p>
        </p:txBody>
      </p:sp>
      <p:sp>
        <p:nvSpPr>
          <p:cNvPr id="10" name="Content Placeholder 9">
            <a:extLst>
              <a:ext uri="{FF2B5EF4-FFF2-40B4-BE49-F238E27FC236}">
                <a16:creationId xmlns:a16="http://schemas.microsoft.com/office/drawing/2014/main" id="{97BD630C-F6C2-6E56-F7C8-A4D38889DC1A}"/>
              </a:ext>
            </a:extLst>
          </p:cNvPr>
          <p:cNvSpPr>
            <a:spLocks noGrp="1"/>
          </p:cNvSpPr>
          <p:nvPr>
            <p:ph idx="1"/>
          </p:nvPr>
        </p:nvSpPr>
        <p:spPr>
          <a:xfrm>
            <a:off x="2027636" y="2759273"/>
            <a:ext cx="2342837" cy="2753952"/>
          </a:xfrm>
        </p:spPr>
        <p:txBody>
          <a:bodyPr anchor="t">
            <a:normAutofit/>
          </a:bodyPr>
          <a:lstStyle/>
          <a:p>
            <a:pPr marL="229076" indent="-229076"/>
            <a:r>
              <a:rPr lang="en-US">
                <a:solidFill>
                  <a:schemeClr val="bg1">
                    <a:lumMod val="75000"/>
                    <a:lumOff val="25000"/>
                  </a:schemeClr>
                </a:solidFill>
                <a:highlight>
                  <a:srgbClr val="FFFFFF"/>
                </a:highlight>
                <a:ea typeface="+mn-lt"/>
                <a:cs typeface="+mn-lt"/>
              </a:rPr>
              <a:t>Revenue is driven by a small set of standout products</a:t>
            </a:r>
            <a:endParaRPr lang="en-US">
              <a:solidFill>
                <a:schemeClr val="bg1">
                  <a:lumMod val="75000"/>
                  <a:lumOff val="25000"/>
                </a:schemeClr>
              </a:solidFill>
            </a:endParaRPr>
          </a:p>
          <a:p>
            <a:pPr marL="229076" indent="-229076"/>
            <a:r>
              <a:rPr lang="en-US">
                <a:solidFill>
                  <a:schemeClr val="bg1">
                    <a:lumMod val="75000"/>
                    <a:lumOff val="25000"/>
                  </a:schemeClr>
                </a:solidFill>
                <a:highlight>
                  <a:srgbClr val="FFFFFF"/>
                </a:highlight>
                <a:ea typeface="+mn-lt"/>
                <a:cs typeface="+mn-lt"/>
              </a:rPr>
              <a:t>Fireball Cinnamon Whiskey is the strongest revenue contributor</a:t>
            </a:r>
            <a:endParaRPr lang="en-US">
              <a:solidFill>
                <a:schemeClr val="bg1">
                  <a:lumMod val="75000"/>
                  <a:lumOff val="25000"/>
                </a:schemeClr>
              </a:solidFill>
            </a:endParaRPr>
          </a:p>
          <a:p>
            <a:pPr marL="229076" indent="-229076"/>
            <a:endParaRPr lang="en-US">
              <a:solidFill>
                <a:schemeClr val="bg1">
                  <a:lumMod val="75000"/>
                  <a:lumOff val="25000"/>
                </a:schemeClr>
              </a:solidFill>
            </a:endParaRPr>
          </a:p>
        </p:txBody>
      </p:sp>
      <p:pic>
        <p:nvPicPr>
          <p:cNvPr id="6" name="Content Placeholder 5" descr="A screenshot of a graph&#10;&#10;AI-generated content may be incorrect.">
            <a:extLst>
              <a:ext uri="{FF2B5EF4-FFF2-40B4-BE49-F238E27FC236}">
                <a16:creationId xmlns:a16="http://schemas.microsoft.com/office/drawing/2014/main" id="{0E306E76-B861-0584-7A00-8BEF511A84BE}"/>
              </a:ext>
            </a:extLst>
          </p:cNvPr>
          <p:cNvPicPr>
            <a:picLocks noChangeAspect="1"/>
          </p:cNvPicPr>
          <p:nvPr/>
        </p:nvPicPr>
        <p:blipFill>
          <a:blip r:embed="rId3"/>
          <a:srcRect r="6031" b="-2"/>
          <a:stretch>
            <a:fillRect/>
          </a:stretch>
        </p:blipFill>
        <p:spPr>
          <a:xfrm>
            <a:off x="4705374" y="1308150"/>
            <a:ext cx="5627727" cy="4342024"/>
          </a:xfrm>
          <a:prstGeom prst="rect">
            <a:avLst/>
          </a:prstGeom>
        </p:spPr>
      </p:pic>
    </p:spTree>
    <p:extLst>
      <p:ext uri="{BB962C8B-B14F-4D97-AF65-F5344CB8AC3E}">
        <p14:creationId xmlns:p14="http://schemas.microsoft.com/office/powerpoint/2010/main" val="420187838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8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6">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5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a:p>
        </p:txBody>
      </p:sp>
      <p:sp>
        <p:nvSpPr>
          <p:cNvPr id="2" name="Title 1">
            <a:extLst>
              <a:ext uri="{FF2B5EF4-FFF2-40B4-BE49-F238E27FC236}">
                <a16:creationId xmlns:a16="http://schemas.microsoft.com/office/drawing/2014/main" id="{D537E244-12DF-D62F-1E07-86548BF0BFD6}"/>
              </a:ext>
            </a:extLst>
          </p:cNvPr>
          <p:cNvSpPr>
            <a:spLocks noGrp="1"/>
          </p:cNvSpPr>
          <p:nvPr>
            <p:ph type="title"/>
          </p:nvPr>
        </p:nvSpPr>
        <p:spPr>
          <a:xfrm>
            <a:off x="1981430" y="1383867"/>
            <a:ext cx="2676496" cy="891540"/>
          </a:xfrm>
        </p:spPr>
        <p:txBody>
          <a:bodyPr vert="horz" lIns="68580" tIns="34290" rIns="68580" bIns="34290" rtlCol="0" anchor="b">
            <a:normAutofit/>
          </a:bodyPr>
          <a:lstStyle/>
          <a:p>
            <a:r>
              <a:rPr lang="en-US" sz="675" b="1">
                <a:solidFill>
                  <a:srgbClr val="1A1C1F"/>
                </a:solidFill>
                <a:highlight>
                  <a:srgbClr val="FFFFFF"/>
                </a:highlight>
                <a:ea typeface="+mj-lt"/>
                <a:cs typeface="+mj-lt"/>
              </a:rPr>
              <a:t>Weakness: Revenue Concentration Across Stores</a:t>
            </a:r>
            <a:endParaRPr lang="en-US" b="1"/>
          </a:p>
          <a:p>
            <a:pPr>
              <a:lnSpc>
                <a:spcPct val="90000"/>
              </a:lnSpc>
            </a:pPr>
            <a:br>
              <a:rPr lang="en-US" dirty="0"/>
            </a:br>
            <a:endParaRPr lang="en-US" b="1"/>
          </a:p>
        </p:txBody>
      </p:sp>
      <p:sp>
        <p:nvSpPr>
          <p:cNvPr id="30" name="Rectangle 29">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2966" y="1200152"/>
            <a:ext cx="2633425" cy="68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350"/>
          </a:p>
        </p:txBody>
      </p:sp>
      <p:sp>
        <p:nvSpPr>
          <p:cNvPr id="5" name="Text Placeholder 4">
            <a:extLst>
              <a:ext uri="{FF2B5EF4-FFF2-40B4-BE49-F238E27FC236}">
                <a16:creationId xmlns:a16="http://schemas.microsoft.com/office/drawing/2014/main" id="{C5A49A30-4C7F-6987-DE67-10B4DA9E91CD}"/>
              </a:ext>
            </a:extLst>
          </p:cNvPr>
          <p:cNvSpPr>
            <a:spLocks noGrp="1"/>
          </p:cNvSpPr>
          <p:nvPr>
            <p:ph type="body" sz="half" idx="2"/>
          </p:nvPr>
        </p:nvSpPr>
        <p:spPr>
          <a:xfrm>
            <a:off x="1981430" y="2612899"/>
            <a:ext cx="2676496" cy="2725865"/>
          </a:xfrm>
        </p:spPr>
        <p:txBody>
          <a:bodyPr vert="horz" lIns="68580" tIns="34290" rIns="68580" bIns="34290" rtlCol="0" anchor="ctr">
            <a:normAutofit/>
          </a:bodyPr>
          <a:lstStyle/>
          <a:p>
            <a:pPr>
              <a:buFont typeface="Wingdings 2" panose="05020102010507070707" pitchFamily="18" charset="2"/>
              <a:buChar char=""/>
            </a:pPr>
            <a:endParaRPr lang="en-US" dirty="0"/>
          </a:p>
          <a:p>
            <a:pPr marL="214313" indent="-214313">
              <a:buFont typeface="Arial"/>
              <a:buChar char="•"/>
            </a:pPr>
            <a:r>
              <a:rPr lang="en-US" sz="750" dirty="0">
                <a:solidFill>
                  <a:srgbClr val="1A1C1F"/>
                </a:solidFill>
                <a:highlight>
                  <a:srgbClr val="FFFFFF"/>
                </a:highlight>
                <a:ea typeface="+mn-lt"/>
                <a:cs typeface="+mn-lt"/>
              </a:rPr>
              <a:t>A relatively small group of stores contributes a large share of revenue</a:t>
            </a:r>
            <a:endParaRPr lang="en-US" dirty="0"/>
          </a:p>
          <a:p>
            <a:pPr marL="214313" indent="-214313">
              <a:buFont typeface="Arial"/>
              <a:buChar char="•"/>
            </a:pPr>
            <a:r>
              <a:rPr lang="en-US" sz="750">
                <a:solidFill>
                  <a:srgbClr val="1A1C1F"/>
                </a:solidFill>
                <a:highlight>
                  <a:srgbClr val="FFFFFF"/>
                </a:highlight>
                <a:ea typeface="+mn-lt"/>
                <a:cs typeface="+mn-lt"/>
              </a:rPr>
              <a:t>This creates partner concentration risk</a:t>
            </a:r>
            <a:endParaRPr lang="en-US"/>
          </a:p>
          <a:p>
            <a:br>
              <a:rPr lang="en-US" dirty="0"/>
            </a:br>
            <a:endParaRPr lang="en-US" dirty="0"/>
          </a:p>
        </p:txBody>
      </p:sp>
      <p:pic>
        <p:nvPicPr>
          <p:cNvPr id="4" name="Content Placeholder 3">
            <a:extLst>
              <a:ext uri="{FF2B5EF4-FFF2-40B4-BE49-F238E27FC236}">
                <a16:creationId xmlns:a16="http://schemas.microsoft.com/office/drawing/2014/main" id="{E1C7C06A-0BD3-A515-E919-358B697B62BB}"/>
              </a:ext>
            </a:extLst>
          </p:cNvPr>
          <p:cNvPicPr>
            <a:picLocks noGrp="1" noChangeAspect="1"/>
          </p:cNvPicPr>
          <p:nvPr>
            <p:ph type="pic" idx="1"/>
          </p:nvPr>
        </p:nvPicPr>
        <p:blipFill>
          <a:blip r:embed="rId3"/>
          <a:srcRect l="6715" r="13599" b="-1"/>
          <a:stretch>
            <a:fillRect/>
          </a:stretch>
        </p:blipFill>
        <p:spPr>
          <a:xfrm>
            <a:off x="5014723" y="857258"/>
            <a:ext cx="5653279" cy="5143493"/>
          </a:xfrm>
          <a:prstGeom prst="rect">
            <a:avLst/>
          </a:prstGeom>
        </p:spPr>
      </p:pic>
    </p:spTree>
    <p:extLst>
      <p:ext uri="{BB962C8B-B14F-4D97-AF65-F5344CB8AC3E}">
        <p14:creationId xmlns:p14="http://schemas.microsoft.com/office/powerpoint/2010/main" val="358214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06CC3-1773-9C1D-9A6A-B4F8C582F4F1}"/>
              </a:ext>
            </a:extLst>
          </p:cNvPr>
          <p:cNvSpPr>
            <a:spLocks noGrp="1"/>
          </p:cNvSpPr>
          <p:nvPr>
            <p:ph type="title"/>
          </p:nvPr>
        </p:nvSpPr>
        <p:spPr/>
        <p:txBody>
          <a:bodyPr>
            <a:normAutofit fontScale="90000"/>
          </a:bodyPr>
          <a:lstStyle/>
          <a:p>
            <a:r>
              <a:rPr lang="en-US" sz="2700">
                <a:solidFill>
                  <a:srgbClr val="1A1C1F"/>
                </a:solidFill>
                <a:highlight>
                  <a:srgbClr val="FFFFFF"/>
                </a:highlight>
                <a:latin typeface="Aldhabi"/>
                <a:ea typeface="+mj-lt"/>
                <a:cs typeface="Aldhabi"/>
              </a:rPr>
              <a:t>Weakness: Limited Visibility Beyond Active Stores</a:t>
            </a:r>
            <a:endParaRPr lang="en-US" sz="2700">
              <a:latin typeface="Aldhabi"/>
              <a:cs typeface="Aldhabi"/>
            </a:endParaRPr>
          </a:p>
          <a:p>
            <a:br>
              <a:rPr lang="en-US" dirty="0"/>
            </a:br>
            <a:endParaRPr lang="en-US" dirty="0"/>
          </a:p>
        </p:txBody>
      </p:sp>
      <p:sp>
        <p:nvSpPr>
          <p:cNvPr id="3" name="Picture Placeholder 2">
            <a:extLst>
              <a:ext uri="{FF2B5EF4-FFF2-40B4-BE49-F238E27FC236}">
                <a16:creationId xmlns:a16="http://schemas.microsoft.com/office/drawing/2014/main" id="{F9F11DEB-FAB1-FAC9-DBA0-65C983E6EF51}"/>
              </a:ext>
            </a:extLst>
          </p:cNvPr>
          <p:cNvSpPr>
            <a:spLocks noGrp="1"/>
          </p:cNvSpPr>
          <p:nvPr>
            <p:ph idx="1"/>
          </p:nvPr>
        </p:nvSpPr>
        <p:spPr/>
        <p:txBody>
          <a:bodyPr/>
          <a:lstStyle/>
          <a:p>
            <a:pPr marL="229076" indent="-229076"/>
            <a:r>
              <a:rPr lang="en-US" sz="3300">
                <a:solidFill>
                  <a:srgbClr val="1A1C1F"/>
                </a:solidFill>
                <a:highlight>
                  <a:srgbClr val="FFFFFF"/>
                </a:highlight>
                <a:latin typeface="Aldhabi"/>
                <a:ea typeface="+mn-lt"/>
                <a:cs typeface="Aldhabi"/>
              </a:rPr>
              <a:t>All observed Sazerac revenue in the filtered dataset came from active stores.            </a:t>
            </a:r>
            <a:endParaRPr lang="en-US" sz="3300">
              <a:latin typeface="Aldhabi"/>
              <a:cs typeface="Aldhabi"/>
            </a:endParaRPr>
          </a:p>
          <a:p>
            <a:pPr marL="229076" indent="-229076"/>
            <a:br>
              <a:rPr lang="en-US" dirty="0"/>
            </a:br>
            <a:endParaRPr lang="en-US" dirty="0"/>
          </a:p>
        </p:txBody>
      </p:sp>
      <p:graphicFrame>
        <p:nvGraphicFramePr>
          <p:cNvPr id="6" name="Table 5">
            <a:extLst>
              <a:ext uri="{FF2B5EF4-FFF2-40B4-BE49-F238E27FC236}">
                <a16:creationId xmlns:a16="http://schemas.microsoft.com/office/drawing/2014/main" id="{07C0584B-5381-2DAF-9A0A-C4DF6C3554AF}"/>
              </a:ext>
            </a:extLst>
          </p:cNvPr>
          <p:cNvGraphicFramePr>
            <a:graphicFrameLocks noGrp="1"/>
          </p:cNvGraphicFramePr>
          <p:nvPr>
            <p:extLst>
              <p:ext uri="{D42A27DB-BD31-4B8C-83A1-F6EECF244321}">
                <p14:modId xmlns:p14="http://schemas.microsoft.com/office/powerpoint/2010/main" val="2908701449"/>
              </p:ext>
            </p:extLst>
          </p:nvPr>
        </p:nvGraphicFramePr>
        <p:xfrm>
          <a:off x="3857915" y="3976310"/>
          <a:ext cx="4479016" cy="1216183"/>
        </p:xfrm>
        <a:graphic>
          <a:graphicData uri="http://schemas.openxmlformats.org/drawingml/2006/table">
            <a:tbl>
              <a:tblPr bandRow="1">
                <a:tableStyleId>{5C22544A-7EE6-4342-B048-85BDC9FD1C3A}</a:tableStyleId>
              </a:tblPr>
              <a:tblGrid>
                <a:gridCol w="1861867">
                  <a:extLst>
                    <a:ext uri="{9D8B030D-6E8A-4147-A177-3AD203B41FA5}">
                      <a16:colId xmlns:a16="http://schemas.microsoft.com/office/drawing/2014/main" val="3673317599"/>
                    </a:ext>
                  </a:extLst>
                </a:gridCol>
                <a:gridCol w="2617149">
                  <a:extLst>
                    <a:ext uri="{9D8B030D-6E8A-4147-A177-3AD203B41FA5}">
                      <a16:colId xmlns:a16="http://schemas.microsoft.com/office/drawing/2014/main" val="429124870"/>
                    </a:ext>
                  </a:extLst>
                </a:gridCol>
              </a:tblGrid>
              <a:tr h="282328">
                <a:tc>
                  <a:txBody>
                    <a:bodyPr/>
                    <a:lstStyle/>
                    <a:p>
                      <a:pPr>
                        <a:buNone/>
                      </a:pPr>
                      <a:r>
                        <a:rPr lang="en-US" sz="900" b="1" u="none" strike="noStrike" dirty="0" err="1">
                          <a:solidFill>
                            <a:srgbClr val="FFFFFF"/>
                          </a:solidFill>
                          <a:effectLst/>
                          <a:latin typeface="Aptos Narrow"/>
                        </a:rPr>
                        <a:t>store_status</a:t>
                      </a:r>
                    </a:p>
                  </a:txBody>
                  <a:tcPr marL="0" marR="0" marT="0" marB="0" anchor="ctr">
                    <a:lnL w="6350" cap="flat" cmpd="sng" algn="ctr">
                      <a:solidFill>
                        <a:srgbClr val="8ED973"/>
                      </a:solidFill>
                      <a:prstDash val="solid"/>
                      <a:round/>
                      <a:headEnd type="none" w="med" len="med"/>
                      <a:tailEnd type="none" w="med" len="med"/>
                    </a:lnL>
                    <a:lnR>
                      <a:noFill/>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4EA72E"/>
                    </a:solidFill>
                  </a:tcPr>
                </a:tc>
                <a:tc>
                  <a:txBody>
                    <a:bodyPr/>
                    <a:lstStyle/>
                    <a:p>
                      <a:pPr>
                        <a:buNone/>
                      </a:pPr>
                      <a:r>
                        <a:rPr lang="en-US" sz="900" b="1" u="none" strike="noStrike" err="1">
                          <a:solidFill>
                            <a:srgbClr val="FFFFFF"/>
                          </a:solidFill>
                          <a:effectLst/>
                          <a:latin typeface="Aptos Narrow"/>
                        </a:rPr>
                        <a:t>total_revenue</a:t>
                      </a:r>
                    </a:p>
                  </a:txBody>
                  <a:tcPr marL="0" marR="0" marT="0" marB="0" anchor="ctr">
                    <a:lnL>
                      <a:noFill/>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4EA72E"/>
                    </a:solidFill>
                  </a:tcPr>
                </a:tc>
                <a:extLst>
                  <a:ext uri="{0D108BD9-81ED-4DB2-BD59-A6C34878D82A}">
                    <a16:rowId xmlns:a16="http://schemas.microsoft.com/office/drawing/2014/main" val="1703553153"/>
                  </a:ext>
                </a:extLst>
              </a:tr>
              <a:tr h="933855">
                <a:tc>
                  <a:txBody>
                    <a:bodyPr/>
                    <a:lstStyle/>
                    <a:p>
                      <a:pPr>
                        <a:buNone/>
                      </a:pPr>
                      <a:r>
                        <a:rPr lang="en-US" sz="900" b="0" u="none" strike="noStrike">
                          <a:solidFill>
                            <a:srgbClr val="000000"/>
                          </a:solidFill>
                          <a:effectLst/>
                          <a:latin typeface="Aptos Narrow" panose="020B0004020202020204" pitchFamily="34" charset="0"/>
                        </a:rPr>
                        <a:t>A</a:t>
                      </a:r>
                    </a:p>
                  </a:txBody>
                  <a:tcPr marL="0" marR="0" marT="0" marB="0" anchor="ctr">
                    <a:lnL w="6350" cap="flat" cmpd="sng" algn="ctr">
                      <a:solidFill>
                        <a:srgbClr val="8ED973"/>
                      </a:solidFill>
                      <a:prstDash val="solid"/>
                      <a:round/>
                      <a:headEnd type="none" w="med" len="med"/>
                      <a:tailEnd type="none" w="med" len="med"/>
                    </a:lnL>
                    <a:lnR>
                      <a:noFill/>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tc>
                  <a:txBody>
                    <a:bodyPr/>
                    <a:lstStyle/>
                    <a:p>
                      <a:pPr algn="r">
                        <a:buNone/>
                      </a:pPr>
                      <a:r>
                        <a:rPr lang="en-US" sz="900" b="0" u="none" strike="noStrike">
                          <a:solidFill>
                            <a:srgbClr val="000000"/>
                          </a:solidFill>
                          <a:effectLst/>
                          <a:latin typeface="Aptos Narrow" panose="020B0004020202020204" pitchFamily="34" charset="0"/>
                        </a:rPr>
                        <a:t>37256388</a:t>
                      </a:r>
                    </a:p>
                  </a:txBody>
                  <a:tcPr marL="0" marR="0" marT="0" marB="0" anchor="ctr">
                    <a:lnL>
                      <a:noFill/>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extLst>
                  <a:ext uri="{0D108BD9-81ED-4DB2-BD59-A6C34878D82A}">
                    <a16:rowId xmlns:a16="http://schemas.microsoft.com/office/drawing/2014/main" val="2173900538"/>
                  </a:ext>
                </a:extLst>
              </a:tr>
            </a:tbl>
          </a:graphicData>
        </a:graphic>
      </p:graphicFrame>
    </p:spTree>
    <p:extLst>
      <p:ext uri="{BB962C8B-B14F-4D97-AF65-F5344CB8AC3E}">
        <p14:creationId xmlns:p14="http://schemas.microsoft.com/office/powerpoint/2010/main" val="109123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857250"/>
            <a:ext cx="9144000" cy="51435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6AD3A4C0-7A82-9F84-19C6-1BB9CAD654AA}"/>
              </a:ext>
            </a:extLst>
          </p:cNvPr>
          <p:cNvSpPr>
            <a:spLocks noGrp="1"/>
          </p:cNvSpPr>
          <p:nvPr>
            <p:ph type="title"/>
          </p:nvPr>
        </p:nvSpPr>
        <p:spPr>
          <a:xfrm>
            <a:off x="1981430" y="1383868"/>
            <a:ext cx="2676496" cy="952285"/>
          </a:xfrm>
        </p:spPr>
        <p:txBody>
          <a:bodyPr>
            <a:normAutofit/>
          </a:bodyPr>
          <a:lstStyle/>
          <a:p>
            <a:pPr>
              <a:lnSpc>
                <a:spcPct val="90000"/>
              </a:lnSpc>
            </a:pPr>
            <a:r>
              <a:rPr lang="en-US"/>
              <a:t>Opportunity: Mid-Tier Price Segment</a:t>
            </a:r>
          </a:p>
        </p:txBody>
      </p:sp>
      <p:sp>
        <p:nvSpPr>
          <p:cNvPr id="21" name="Rectangle 2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2966" y="1200152"/>
            <a:ext cx="2633425" cy="68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Content Placeholder 8">
            <a:extLst>
              <a:ext uri="{FF2B5EF4-FFF2-40B4-BE49-F238E27FC236}">
                <a16:creationId xmlns:a16="http://schemas.microsoft.com/office/drawing/2014/main" id="{19627E00-28BC-BFC9-28B9-A8D7D3404F6A}"/>
              </a:ext>
            </a:extLst>
          </p:cNvPr>
          <p:cNvSpPr>
            <a:spLocks noGrp="1"/>
          </p:cNvSpPr>
          <p:nvPr>
            <p:ph idx="1"/>
          </p:nvPr>
        </p:nvSpPr>
        <p:spPr>
          <a:xfrm>
            <a:off x="1981430" y="2612899"/>
            <a:ext cx="2676496" cy="2725865"/>
          </a:xfrm>
        </p:spPr>
        <p:txBody>
          <a:bodyPr>
            <a:normAutofit/>
          </a:bodyPr>
          <a:lstStyle/>
          <a:p>
            <a:pPr marL="229076" indent="-229076"/>
            <a:br>
              <a:rPr lang="en-US" dirty="0"/>
            </a:br>
            <a:r>
              <a:rPr lang="en-US">
                <a:highlight>
                  <a:srgbClr val="FFFFFF"/>
                </a:highlight>
                <a:ea typeface="+mn-lt"/>
                <a:cs typeface="+mn-lt"/>
              </a:rPr>
              <a:t>Mid-tier products generate meaningful revenue</a:t>
            </a:r>
            <a:endParaRPr lang="en-US"/>
          </a:p>
          <a:p>
            <a:pPr marL="229076" indent="-229076"/>
            <a:r>
              <a:rPr lang="en-US">
                <a:highlight>
                  <a:srgbClr val="FFFFFF"/>
                </a:highlight>
                <a:ea typeface="+mn-lt"/>
                <a:cs typeface="+mn-lt"/>
              </a:rPr>
              <a:t>A few items dominate within the $10–$20 state bottle cost range</a:t>
            </a:r>
            <a:endParaRPr lang="en-US"/>
          </a:p>
          <a:p>
            <a:pPr marL="229076" indent="-229076"/>
            <a:endParaRPr lang="en-US" dirty="0"/>
          </a:p>
        </p:txBody>
      </p:sp>
      <p:pic>
        <p:nvPicPr>
          <p:cNvPr id="5" name="Content Placeholder 4" descr="A graph with numbers and a bar&#10;&#10;AI-generated content may be incorrect.">
            <a:extLst>
              <a:ext uri="{FF2B5EF4-FFF2-40B4-BE49-F238E27FC236}">
                <a16:creationId xmlns:a16="http://schemas.microsoft.com/office/drawing/2014/main" id="{B1490217-EDE5-6301-7264-55A31BF627C7}"/>
              </a:ext>
            </a:extLst>
          </p:cNvPr>
          <p:cNvPicPr>
            <a:picLocks noChangeAspect="1"/>
          </p:cNvPicPr>
          <p:nvPr/>
        </p:nvPicPr>
        <p:blipFill>
          <a:blip r:embed="rId3"/>
          <a:srcRect l="130" r="20183" b="-1"/>
          <a:stretch>
            <a:fillRect/>
          </a:stretch>
        </p:blipFill>
        <p:spPr>
          <a:xfrm>
            <a:off x="5366996" y="1383868"/>
            <a:ext cx="4824080" cy="4420973"/>
          </a:xfrm>
          <a:prstGeom prst="rect">
            <a:avLst/>
          </a:prstGeom>
        </p:spPr>
      </p:pic>
    </p:spTree>
    <p:extLst>
      <p:ext uri="{BB962C8B-B14F-4D97-AF65-F5344CB8AC3E}">
        <p14:creationId xmlns:p14="http://schemas.microsoft.com/office/powerpoint/2010/main" val="1740880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9F5B-BD05-D160-33B4-8EC199F0CB57}"/>
              </a:ext>
            </a:extLst>
          </p:cNvPr>
          <p:cNvSpPr>
            <a:spLocks noGrp="1"/>
          </p:cNvSpPr>
          <p:nvPr>
            <p:ph type="title"/>
          </p:nvPr>
        </p:nvSpPr>
        <p:spPr/>
        <p:txBody>
          <a:bodyPr/>
          <a:lstStyle/>
          <a:p>
            <a:r>
              <a:rPr lang="en-US"/>
              <a:t>Opportunity: Urban market focus in Deis Moines</a:t>
            </a:r>
          </a:p>
        </p:txBody>
      </p:sp>
      <p:pic>
        <p:nvPicPr>
          <p:cNvPr id="4" name="Content Placeholder 3" descr="A graph of a bar chart&#10;&#10;AI-generated content may be incorrect.">
            <a:extLst>
              <a:ext uri="{FF2B5EF4-FFF2-40B4-BE49-F238E27FC236}">
                <a16:creationId xmlns:a16="http://schemas.microsoft.com/office/drawing/2014/main" id="{814D2478-7CEE-A2CE-E3CA-A3B6CA7B8B31}"/>
              </a:ext>
            </a:extLst>
          </p:cNvPr>
          <p:cNvPicPr>
            <a:picLocks noGrp="1" noChangeAspect="1"/>
          </p:cNvPicPr>
          <p:nvPr>
            <p:ph idx="1"/>
          </p:nvPr>
        </p:nvPicPr>
        <p:blipFill>
          <a:blip r:embed="rId3"/>
          <a:stretch>
            <a:fillRect/>
          </a:stretch>
        </p:blipFill>
        <p:spPr>
          <a:xfrm>
            <a:off x="5013755" y="1179513"/>
            <a:ext cx="6425340" cy="4659312"/>
          </a:xfrm>
          <a:prstGeom prst="rect">
            <a:avLst/>
          </a:prstGeom>
        </p:spPr>
      </p:pic>
      <p:sp>
        <p:nvSpPr>
          <p:cNvPr id="8" name="Text Placeholder 7">
            <a:extLst>
              <a:ext uri="{FF2B5EF4-FFF2-40B4-BE49-F238E27FC236}">
                <a16:creationId xmlns:a16="http://schemas.microsoft.com/office/drawing/2014/main" id="{998E2A12-6CC8-FA65-4804-71FC820901D5}"/>
              </a:ext>
            </a:extLst>
          </p:cNvPr>
          <p:cNvSpPr>
            <a:spLocks noGrp="1"/>
          </p:cNvSpPr>
          <p:nvPr>
            <p:ph type="body" sz="half" idx="2"/>
          </p:nvPr>
        </p:nvSpPr>
        <p:spPr/>
        <p:txBody>
          <a:bodyPr/>
          <a:lstStyle/>
          <a:p>
            <a:pPr marL="285750" indent="-285750">
              <a:buFont typeface="Arial"/>
              <a:buChar char="•"/>
            </a:pPr>
            <a:r>
              <a:rPr lang="en-US" sz="1000">
                <a:solidFill>
                  <a:srgbClr val="1A1C1F"/>
                </a:solidFill>
                <a:highlight>
                  <a:srgbClr val="FFFFFF"/>
                </a:highlight>
                <a:ea typeface="+mn-lt"/>
                <a:cs typeface="+mn-lt"/>
              </a:rPr>
              <a:t>Des Moines shows clear product-level demand</a:t>
            </a:r>
            <a:endParaRPr lang="en-US"/>
          </a:p>
          <a:p>
            <a:pPr marL="285750" indent="-285750">
              <a:buFont typeface="Arial"/>
              <a:buChar char="•"/>
            </a:pPr>
            <a:r>
              <a:rPr lang="en-US" sz="1000">
                <a:solidFill>
                  <a:srgbClr val="1A1C1F"/>
                </a:solidFill>
                <a:highlight>
                  <a:srgbClr val="FFFFFF"/>
                </a:highlight>
                <a:ea typeface="+mn-lt"/>
                <a:cs typeface="+mn-lt"/>
              </a:rPr>
              <a:t>Fireball Cinnamon Whiskey leads urban revenue performance</a:t>
            </a:r>
            <a:endParaRPr lang="en-US"/>
          </a:p>
          <a:p>
            <a:endParaRPr lang="en-US" dirty="0"/>
          </a:p>
        </p:txBody>
      </p:sp>
    </p:spTree>
    <p:extLst>
      <p:ext uri="{BB962C8B-B14F-4D97-AF65-F5344CB8AC3E}">
        <p14:creationId xmlns:p14="http://schemas.microsoft.com/office/powerpoint/2010/main" val="2201448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38">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41" name="Rectangle 40">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3" name="Rectangle 42">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FE1A21-1582-BC47-E8BF-96789726D15E}"/>
              </a:ext>
            </a:extLst>
          </p:cNvPr>
          <p:cNvSpPr>
            <a:spLocks noGrp="1"/>
          </p:cNvSpPr>
          <p:nvPr>
            <p:ph type="title"/>
          </p:nvPr>
        </p:nvSpPr>
        <p:spPr>
          <a:xfrm>
            <a:off x="672280" y="944752"/>
            <a:ext cx="3259016" cy="1462692"/>
          </a:xfrm>
        </p:spPr>
        <p:txBody>
          <a:bodyPr vert="horz" lIns="91440" tIns="45720" rIns="91440" bIns="45720" rtlCol="0" anchor="b">
            <a:normAutofit fontScale="90000"/>
          </a:bodyPr>
          <a:lstStyle/>
          <a:p>
            <a:r>
              <a:rPr lang="en-US" sz="2800" dirty="0" err="1">
                <a:solidFill>
                  <a:schemeClr val="bg1">
                    <a:lumMod val="75000"/>
                    <a:lumOff val="25000"/>
                  </a:schemeClr>
                </a:solidFill>
              </a:rPr>
              <a:t>Threat:Competitive</a:t>
            </a:r>
            <a:r>
              <a:rPr lang="en-US" sz="2800" dirty="0">
                <a:solidFill>
                  <a:schemeClr val="bg1">
                    <a:lumMod val="75000"/>
                    <a:lumOff val="25000"/>
                  </a:schemeClr>
                </a:solidFill>
              </a:rPr>
              <a:t> Substitute Categories</a:t>
            </a:r>
            <a:endParaRPr lang="en-US" sz="2800" b="0" kern="1200" cap="all" dirty="0">
              <a:solidFill>
                <a:schemeClr val="bg1">
                  <a:lumMod val="75000"/>
                  <a:lumOff val="25000"/>
                </a:schemeClr>
              </a:solidFill>
              <a:latin typeface="+mj-lt"/>
            </a:endParaRPr>
          </a:p>
        </p:txBody>
      </p:sp>
      <p:sp>
        <p:nvSpPr>
          <p:cNvPr id="45" name="Rectangle 44">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9" name="Rectangle 48">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 Placeholder 3">
            <a:extLst>
              <a:ext uri="{FF2B5EF4-FFF2-40B4-BE49-F238E27FC236}">
                <a16:creationId xmlns:a16="http://schemas.microsoft.com/office/drawing/2014/main" id="{8C127652-88FC-0752-E8F1-F65E9785D50E}"/>
              </a:ext>
            </a:extLst>
          </p:cNvPr>
          <p:cNvSpPr>
            <a:spLocks noGrp="1"/>
          </p:cNvSpPr>
          <p:nvPr>
            <p:ph type="body" sz="half" idx="2"/>
          </p:nvPr>
        </p:nvSpPr>
        <p:spPr>
          <a:xfrm>
            <a:off x="671513" y="2536031"/>
            <a:ext cx="3123783" cy="3671936"/>
          </a:xfrm>
        </p:spPr>
        <p:txBody>
          <a:bodyPr vert="horz" lIns="91440" tIns="45720" rIns="91440" bIns="45720" rtlCol="0" anchor="t">
            <a:noAutofit/>
          </a:bodyPr>
          <a:lstStyle/>
          <a:p>
            <a:pPr>
              <a:buFont typeface="Arial" panose="05020102010507070707" pitchFamily="18" charset="2"/>
              <a:buChar char="•"/>
            </a:pPr>
            <a:r>
              <a:rPr lang="en-US" sz="2400" b="1" dirty="0">
                <a:solidFill>
                  <a:srgbClr val="1A1C1F"/>
                </a:solidFill>
                <a:highlight>
                  <a:srgbClr val="FFFFFF"/>
                </a:highlight>
              </a:rPr>
              <a:t>Canadian Whiskies generate substantially more revenue than Blended Whiskies</a:t>
            </a:r>
            <a:endParaRPr lang="en-US" sz="2400" b="1">
              <a:solidFill>
                <a:schemeClr val="bg1">
                  <a:lumMod val="75000"/>
                  <a:lumOff val="25000"/>
                </a:schemeClr>
              </a:solidFill>
            </a:endParaRPr>
          </a:p>
          <a:p>
            <a:pPr>
              <a:buFont typeface="Arial" panose="05020102010507070707" pitchFamily="18" charset="2"/>
              <a:buChar char="•"/>
            </a:pPr>
            <a:r>
              <a:rPr lang="en-US" sz="2400" b="1" dirty="0">
                <a:solidFill>
                  <a:srgbClr val="1A1C1F"/>
                </a:solidFill>
                <a:highlight>
                  <a:srgbClr val="FFFFFF"/>
                </a:highlight>
              </a:rPr>
              <a:t>Category competition remains important in the substitute space</a:t>
            </a:r>
            <a:endParaRPr lang="en-US" sz="2400" b="1">
              <a:solidFill>
                <a:srgbClr val="FFFFFF"/>
              </a:solidFill>
            </a:endParaRPr>
          </a:p>
          <a:p>
            <a:pPr>
              <a:buFont typeface="Wingdings 2" panose="05020102010507070707" pitchFamily="18" charset="2"/>
              <a:buChar char=""/>
            </a:pPr>
            <a:endParaRPr lang="en-US" dirty="0">
              <a:solidFill>
                <a:schemeClr val="bg1">
                  <a:lumMod val="75000"/>
                  <a:lumOff val="25000"/>
                </a:schemeClr>
              </a:solidFill>
            </a:endParaRPr>
          </a:p>
        </p:txBody>
      </p:sp>
      <p:pic>
        <p:nvPicPr>
          <p:cNvPr id="7" name="Picture 6" descr="A graph showing a bar chart&#10;&#10;AI-generated content may be incorrect.">
            <a:extLst>
              <a:ext uri="{FF2B5EF4-FFF2-40B4-BE49-F238E27FC236}">
                <a16:creationId xmlns:a16="http://schemas.microsoft.com/office/drawing/2014/main" id="{781A38D6-7252-640B-BDFC-03035CDADD3B}"/>
              </a:ext>
            </a:extLst>
          </p:cNvPr>
          <p:cNvPicPr>
            <a:picLocks noChangeAspect="1"/>
          </p:cNvPicPr>
          <p:nvPr/>
        </p:nvPicPr>
        <p:blipFill>
          <a:blip r:embed="rId3"/>
          <a:srcRect r="6031" b="-2"/>
          <a:stretch>
            <a:fillRect/>
          </a:stretch>
        </p:blipFill>
        <p:spPr>
          <a:xfrm>
            <a:off x="4241830" y="601200"/>
            <a:ext cx="7503636" cy="5789365"/>
          </a:xfrm>
          <a:prstGeom prst="rect">
            <a:avLst/>
          </a:prstGeom>
        </p:spPr>
      </p:pic>
    </p:spTree>
    <p:extLst>
      <p:ext uri="{BB962C8B-B14F-4D97-AF65-F5344CB8AC3E}">
        <p14:creationId xmlns:p14="http://schemas.microsoft.com/office/powerpoint/2010/main" val="37235892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920F85D-0BAA-67C9-C952-87F2679D78CE}"/>
              </a:ext>
            </a:extLst>
          </p:cNvPr>
          <p:cNvSpPr>
            <a:spLocks noGrp="1"/>
          </p:cNvSpPr>
          <p:nvPr>
            <p:ph type="title"/>
          </p:nvPr>
        </p:nvSpPr>
        <p:spPr>
          <a:xfrm>
            <a:off x="771148" y="1037967"/>
            <a:ext cx="3354494" cy="4709131"/>
          </a:xfrm>
        </p:spPr>
        <p:txBody>
          <a:bodyPr anchor="ctr">
            <a:normAutofit/>
          </a:bodyPr>
          <a:lstStyle/>
          <a:p>
            <a:r>
              <a:rPr lang="en-US" sz="1800" dirty="0" err="1">
                <a:solidFill>
                  <a:srgbClr val="FFFEFF"/>
                </a:solidFill>
              </a:rPr>
              <a:t>THREAT:Limited</a:t>
            </a:r>
            <a:r>
              <a:rPr lang="en-US" sz="1800" dirty="0">
                <a:solidFill>
                  <a:srgbClr val="FFFEFF"/>
                </a:solidFill>
              </a:rPr>
              <a:t> </a:t>
            </a:r>
            <a:r>
              <a:rPr lang="en-US" sz="1800" dirty="0" err="1">
                <a:solidFill>
                  <a:srgbClr val="FFFEFF"/>
                </a:solidFill>
              </a:rPr>
              <a:t>whitE</a:t>
            </a:r>
            <a:r>
              <a:rPr lang="en-US" sz="1800" dirty="0">
                <a:solidFill>
                  <a:srgbClr val="FFFEFF"/>
                </a:solidFill>
              </a:rPr>
              <a:t> space in Larger counties</a:t>
            </a:r>
          </a:p>
        </p:txBody>
      </p:sp>
      <p:sp>
        <p:nvSpPr>
          <p:cNvPr id="3" name="Picture Placeholder 2">
            <a:extLst>
              <a:ext uri="{FF2B5EF4-FFF2-40B4-BE49-F238E27FC236}">
                <a16:creationId xmlns:a16="http://schemas.microsoft.com/office/drawing/2014/main" id="{FB39D375-9B1B-61AF-141E-925E2C36DB1D}"/>
              </a:ext>
            </a:extLst>
          </p:cNvPr>
          <p:cNvSpPr>
            <a:spLocks noGrp="1"/>
          </p:cNvSpPr>
          <p:nvPr>
            <p:ph idx="1"/>
          </p:nvPr>
        </p:nvSpPr>
        <p:spPr>
          <a:xfrm>
            <a:off x="4534935" y="1037968"/>
            <a:ext cx="6725899" cy="4820832"/>
          </a:xfrm>
        </p:spPr>
        <p:txBody>
          <a:bodyPr>
            <a:normAutofit/>
          </a:bodyPr>
          <a:lstStyle/>
          <a:p>
            <a:pPr marL="305435" indent="-305435"/>
            <a:r>
              <a:rPr lang="en-US">
                <a:highlight>
                  <a:srgbClr val="FFFFFF"/>
                </a:highlight>
                <a:ea typeface="+mn-lt"/>
                <a:cs typeface="+mn-lt"/>
              </a:rPr>
              <a:t>No counties with population over 10,000 were found with zero recorded Sazerac sales</a:t>
            </a:r>
            <a:endParaRPr lang="en-US"/>
          </a:p>
          <a:p>
            <a:pPr marL="305435" indent="-305435"/>
            <a:br>
              <a:rPr lang="en-US" dirty="0"/>
            </a:br>
            <a:endParaRPr lang="en-US" dirty="0"/>
          </a:p>
        </p:txBody>
      </p:sp>
    </p:spTree>
    <p:extLst>
      <p:ext uri="{BB962C8B-B14F-4D97-AF65-F5344CB8AC3E}">
        <p14:creationId xmlns:p14="http://schemas.microsoft.com/office/powerpoint/2010/main" val="445507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460F9-72C7-79DD-DF15-48E52DA1190D}"/>
              </a:ext>
            </a:extLst>
          </p:cNvPr>
          <p:cNvSpPr>
            <a:spLocks noGrp="1"/>
          </p:cNvSpPr>
          <p:nvPr>
            <p:ph type="title"/>
          </p:nvPr>
        </p:nvSpPr>
        <p:spPr>
          <a:xfrm>
            <a:off x="581192" y="702156"/>
            <a:ext cx="11029616" cy="1188720"/>
          </a:xfrm>
        </p:spPr>
        <p:txBody>
          <a:bodyPr>
            <a:normAutofit/>
          </a:bodyPr>
          <a:lstStyle/>
          <a:p>
            <a:r>
              <a:rPr lang="en-US"/>
              <a:t>SUMMARY AND RECOMENDATION</a:t>
            </a:r>
          </a:p>
        </p:txBody>
      </p:sp>
      <p:graphicFrame>
        <p:nvGraphicFramePr>
          <p:cNvPr id="5" name="Content Placeholder 2">
            <a:extLst>
              <a:ext uri="{FF2B5EF4-FFF2-40B4-BE49-F238E27FC236}">
                <a16:creationId xmlns:a16="http://schemas.microsoft.com/office/drawing/2014/main" id="{ECDA3095-048B-A0A6-12F1-581FD712102C}"/>
              </a:ext>
            </a:extLst>
          </p:cNvPr>
          <p:cNvGraphicFramePr>
            <a:graphicFrameLocks noGrp="1"/>
          </p:cNvGraphicFramePr>
          <p:nvPr>
            <p:ph idx="1"/>
            <p:extLst>
              <p:ext uri="{D42A27DB-BD31-4B8C-83A1-F6EECF244321}">
                <p14:modId xmlns:p14="http://schemas.microsoft.com/office/powerpoint/2010/main" val="2146870469"/>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3664890"/>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Century School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DividendVTI</vt:lpstr>
      <vt:lpstr> Sazerac SWOT Analysis Using Iowa Liquor Sales Data </vt:lpstr>
      <vt:lpstr>scenario</vt:lpstr>
      <vt:lpstr>Summary Stats for DB</vt:lpstr>
      <vt:lpstr>Strength: Strong Geographic Performance  </vt:lpstr>
      <vt:lpstr>Strength: Clear Hero Products  </vt:lpstr>
      <vt:lpstr>Weakness: Revenue Concentration Across Stores  </vt:lpstr>
      <vt:lpstr>Weakness: Limited Visibility Beyond Active Stores  </vt:lpstr>
      <vt:lpstr>Opportunity: Mid-Tier Price Segment</vt:lpstr>
      <vt:lpstr>Opportunity: Urban market focus in Deis Moines</vt:lpstr>
      <vt:lpstr>Threat:Competitive Substitute Categories</vt:lpstr>
      <vt:lpstr>THREAT:Limited whitE space in Larger counties</vt:lpstr>
      <vt:lpstr>SUMMARY AND RECOMENDATION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206</cp:revision>
  <dcterms:created xsi:type="dcterms:W3CDTF">2026-04-30T19:56:26Z</dcterms:created>
  <dcterms:modified xsi:type="dcterms:W3CDTF">2026-04-30T20:51:58Z</dcterms:modified>
</cp:coreProperties>
</file>