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A7FD1-866C-703D-A410-810C323D7A8E}" v="201" dt="2026-04-30T20:14:40.179"/>
    <p1510:client id="{A693389E-1E5E-372E-9556-F0740F584D68}" v="284" dt="2026-04-30T20:57:27.999"/>
    <p1510:client id="{D47D6995-BEB7-92D9-E87F-35B5A7340474}" v="4" dt="2026-05-01T06:00:50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0E67D8-F598-40C7-A3FB-56DC71AB32F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5A8FE4-9AB9-43B4-9CAB-1AEF66D2F296}">
      <dgm:prSet/>
      <dgm:spPr/>
      <dgm:t>
        <a:bodyPr/>
        <a:lstStyle/>
        <a:p>
          <a:r>
            <a:rPr lang="en-US"/>
            <a:t>Defend and deepen share in high-performing counties, especially Polk</a:t>
          </a:r>
        </a:p>
      </dgm:t>
    </dgm:pt>
    <dgm:pt modelId="{762F842B-D760-4A22-B78B-AC6D3FD90E70}" type="parTrans" cxnId="{4E4D350C-0185-4A2B-84EC-0634A0C9D8B7}">
      <dgm:prSet/>
      <dgm:spPr/>
      <dgm:t>
        <a:bodyPr/>
        <a:lstStyle/>
        <a:p>
          <a:endParaRPr lang="en-US"/>
        </a:p>
      </dgm:t>
    </dgm:pt>
    <dgm:pt modelId="{42D33087-4402-4AE5-8800-956DA13352A4}" type="sibTrans" cxnId="{4E4D350C-0185-4A2B-84EC-0634A0C9D8B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9804E5B-118E-4AEC-9C1C-565715BBA714}">
      <dgm:prSet/>
      <dgm:spPr/>
      <dgm:t>
        <a:bodyPr/>
        <a:lstStyle/>
        <a:p>
          <a:r>
            <a:rPr lang="en-US"/>
            <a:t>Prioritize flagship items, led by Fireball Cinnamon Whiskey</a:t>
          </a:r>
        </a:p>
      </dgm:t>
    </dgm:pt>
    <dgm:pt modelId="{766507E6-3FDB-4495-BB08-42393FFBDB55}" type="parTrans" cxnId="{8A6CE467-4337-4DF4-8157-AC2A933978B3}">
      <dgm:prSet/>
      <dgm:spPr/>
      <dgm:t>
        <a:bodyPr/>
        <a:lstStyle/>
        <a:p>
          <a:endParaRPr lang="en-US"/>
        </a:p>
      </dgm:t>
    </dgm:pt>
    <dgm:pt modelId="{19A49D78-6D01-45DA-8A01-516C7FE356D3}" type="sibTrans" cxnId="{8A6CE467-4337-4DF4-8157-AC2A933978B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234263E-404E-4696-AD36-CE698930E537}">
      <dgm:prSet/>
      <dgm:spPr/>
      <dgm:t>
        <a:bodyPr/>
        <a:lstStyle/>
        <a:p>
          <a:r>
            <a:rPr lang="en-US"/>
            <a:t>Expand selectively in mid-tier and urban market segments where demand is already visible</a:t>
          </a:r>
        </a:p>
      </dgm:t>
    </dgm:pt>
    <dgm:pt modelId="{D8B7D6F6-90D0-48D1-9F04-C8B82671D9B5}" type="parTrans" cxnId="{C99F9127-E8D9-407D-9EF7-CF69518DE6B1}">
      <dgm:prSet/>
      <dgm:spPr/>
      <dgm:t>
        <a:bodyPr/>
        <a:lstStyle/>
        <a:p>
          <a:endParaRPr lang="en-US"/>
        </a:p>
      </dgm:t>
    </dgm:pt>
    <dgm:pt modelId="{05A5D9B1-36F1-48B5-A454-B942844BE2CD}" type="sibTrans" cxnId="{C99F9127-E8D9-407D-9EF7-CF69518DE6B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E5A6082-EBE3-4407-88EA-CB5CA2BF0C92}" type="pres">
      <dgm:prSet presAssocID="{CC0E67D8-F598-40C7-A3FB-56DC71AB32F0}" presName="Name0" presStyleCnt="0">
        <dgm:presLayoutVars>
          <dgm:animLvl val="lvl"/>
          <dgm:resizeHandles val="exact"/>
        </dgm:presLayoutVars>
      </dgm:prSet>
      <dgm:spPr/>
    </dgm:pt>
    <dgm:pt modelId="{B85A39C5-06C9-457B-8F56-46A8EBA3DD6B}" type="pres">
      <dgm:prSet presAssocID="{CC5A8FE4-9AB9-43B4-9CAB-1AEF66D2F296}" presName="compositeNode" presStyleCnt="0">
        <dgm:presLayoutVars>
          <dgm:bulletEnabled val="1"/>
        </dgm:presLayoutVars>
      </dgm:prSet>
      <dgm:spPr/>
    </dgm:pt>
    <dgm:pt modelId="{E91DD348-B6E4-4930-9CEC-DEED177C23E7}" type="pres">
      <dgm:prSet presAssocID="{CC5A8FE4-9AB9-43B4-9CAB-1AEF66D2F296}" presName="bgRect" presStyleLbl="bgAccFollowNode1" presStyleIdx="0" presStyleCnt="3"/>
      <dgm:spPr/>
    </dgm:pt>
    <dgm:pt modelId="{411A7A1B-88B8-4996-9CE2-D1F8E6DA4B25}" type="pres">
      <dgm:prSet presAssocID="{42D33087-4402-4AE5-8800-956DA13352A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DA27DF4-A7AD-4FE8-B096-27C9CAEEED6A}" type="pres">
      <dgm:prSet presAssocID="{CC5A8FE4-9AB9-43B4-9CAB-1AEF66D2F296}" presName="bottomLine" presStyleLbl="alignNode1" presStyleIdx="1" presStyleCnt="6">
        <dgm:presLayoutVars/>
      </dgm:prSet>
      <dgm:spPr/>
    </dgm:pt>
    <dgm:pt modelId="{381A0E7B-CBB9-4D29-B439-F9E27F05005F}" type="pres">
      <dgm:prSet presAssocID="{CC5A8FE4-9AB9-43B4-9CAB-1AEF66D2F296}" presName="nodeText" presStyleLbl="bgAccFollowNode1" presStyleIdx="0" presStyleCnt="3">
        <dgm:presLayoutVars>
          <dgm:bulletEnabled val="1"/>
        </dgm:presLayoutVars>
      </dgm:prSet>
      <dgm:spPr/>
    </dgm:pt>
    <dgm:pt modelId="{DD1F72A2-0645-4129-B6DE-7D6B0B3F3821}" type="pres">
      <dgm:prSet presAssocID="{42D33087-4402-4AE5-8800-956DA13352A4}" presName="sibTrans" presStyleCnt="0"/>
      <dgm:spPr/>
    </dgm:pt>
    <dgm:pt modelId="{232F39D3-AFBA-479E-8D69-A2193CFA2FD5}" type="pres">
      <dgm:prSet presAssocID="{89804E5B-118E-4AEC-9C1C-565715BBA714}" presName="compositeNode" presStyleCnt="0">
        <dgm:presLayoutVars>
          <dgm:bulletEnabled val="1"/>
        </dgm:presLayoutVars>
      </dgm:prSet>
      <dgm:spPr/>
    </dgm:pt>
    <dgm:pt modelId="{FBCA2C97-6247-48EE-9393-706C85DC977D}" type="pres">
      <dgm:prSet presAssocID="{89804E5B-118E-4AEC-9C1C-565715BBA714}" presName="bgRect" presStyleLbl="bgAccFollowNode1" presStyleIdx="1" presStyleCnt="3"/>
      <dgm:spPr/>
    </dgm:pt>
    <dgm:pt modelId="{EC1A672E-614D-482F-B670-E456F30FAA1F}" type="pres">
      <dgm:prSet presAssocID="{19A49D78-6D01-45DA-8A01-516C7FE356D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56AEA699-728C-4D97-964D-01C7AE41085E}" type="pres">
      <dgm:prSet presAssocID="{89804E5B-118E-4AEC-9C1C-565715BBA714}" presName="bottomLine" presStyleLbl="alignNode1" presStyleIdx="3" presStyleCnt="6">
        <dgm:presLayoutVars/>
      </dgm:prSet>
      <dgm:spPr/>
    </dgm:pt>
    <dgm:pt modelId="{4F0F2F32-2477-49CF-A7B3-B10A966AAE8D}" type="pres">
      <dgm:prSet presAssocID="{89804E5B-118E-4AEC-9C1C-565715BBA714}" presName="nodeText" presStyleLbl="bgAccFollowNode1" presStyleIdx="1" presStyleCnt="3">
        <dgm:presLayoutVars>
          <dgm:bulletEnabled val="1"/>
        </dgm:presLayoutVars>
      </dgm:prSet>
      <dgm:spPr/>
    </dgm:pt>
    <dgm:pt modelId="{2588E76D-FD90-450E-B792-0C2D3FF2C28B}" type="pres">
      <dgm:prSet presAssocID="{19A49D78-6D01-45DA-8A01-516C7FE356D3}" presName="sibTrans" presStyleCnt="0"/>
      <dgm:spPr/>
    </dgm:pt>
    <dgm:pt modelId="{48A9F4C8-AD2D-4460-8BAE-6C5AE89EA4D5}" type="pres">
      <dgm:prSet presAssocID="{5234263E-404E-4696-AD36-CE698930E537}" presName="compositeNode" presStyleCnt="0">
        <dgm:presLayoutVars>
          <dgm:bulletEnabled val="1"/>
        </dgm:presLayoutVars>
      </dgm:prSet>
      <dgm:spPr/>
    </dgm:pt>
    <dgm:pt modelId="{D3BEB1E8-A23F-4128-8B24-484A83936D77}" type="pres">
      <dgm:prSet presAssocID="{5234263E-404E-4696-AD36-CE698930E537}" presName="bgRect" presStyleLbl="bgAccFollowNode1" presStyleIdx="2" presStyleCnt="3"/>
      <dgm:spPr/>
    </dgm:pt>
    <dgm:pt modelId="{780FED5A-6F5A-4DE4-AAFA-C890C7A40A68}" type="pres">
      <dgm:prSet presAssocID="{05A5D9B1-36F1-48B5-A454-B942844BE2CD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F526DA66-7E6A-46EA-92C5-4683F5ED235D}" type="pres">
      <dgm:prSet presAssocID="{5234263E-404E-4696-AD36-CE698930E537}" presName="bottomLine" presStyleLbl="alignNode1" presStyleIdx="5" presStyleCnt="6">
        <dgm:presLayoutVars/>
      </dgm:prSet>
      <dgm:spPr/>
    </dgm:pt>
    <dgm:pt modelId="{2CD9EDFC-BCCC-4270-A19C-279F9B396482}" type="pres">
      <dgm:prSet presAssocID="{5234263E-404E-4696-AD36-CE698930E537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E4D350C-0185-4A2B-84EC-0634A0C9D8B7}" srcId="{CC0E67D8-F598-40C7-A3FB-56DC71AB32F0}" destId="{CC5A8FE4-9AB9-43B4-9CAB-1AEF66D2F296}" srcOrd="0" destOrd="0" parTransId="{762F842B-D760-4A22-B78B-AC6D3FD90E70}" sibTransId="{42D33087-4402-4AE5-8800-956DA13352A4}"/>
    <dgm:cxn modelId="{5D63B612-F506-49F0-8EB4-F1B00442A150}" type="presOf" srcId="{CC5A8FE4-9AB9-43B4-9CAB-1AEF66D2F296}" destId="{E91DD348-B6E4-4930-9CEC-DEED177C23E7}" srcOrd="0" destOrd="0" presId="urn:microsoft.com/office/officeart/2016/7/layout/BasicLinearProcessNumbered"/>
    <dgm:cxn modelId="{CEA2B21C-1A96-4A4F-BC50-28279A67F959}" type="presOf" srcId="{42D33087-4402-4AE5-8800-956DA13352A4}" destId="{411A7A1B-88B8-4996-9CE2-D1F8E6DA4B25}" srcOrd="0" destOrd="0" presId="urn:microsoft.com/office/officeart/2016/7/layout/BasicLinearProcessNumbered"/>
    <dgm:cxn modelId="{C99F9127-E8D9-407D-9EF7-CF69518DE6B1}" srcId="{CC0E67D8-F598-40C7-A3FB-56DC71AB32F0}" destId="{5234263E-404E-4696-AD36-CE698930E537}" srcOrd="2" destOrd="0" parTransId="{D8B7D6F6-90D0-48D1-9F04-C8B82671D9B5}" sibTransId="{05A5D9B1-36F1-48B5-A454-B942844BE2CD}"/>
    <dgm:cxn modelId="{E9B54332-E2AB-4C14-B7B0-C75933E41442}" type="presOf" srcId="{05A5D9B1-36F1-48B5-A454-B942844BE2CD}" destId="{780FED5A-6F5A-4DE4-AAFA-C890C7A40A68}" srcOrd="0" destOrd="0" presId="urn:microsoft.com/office/officeart/2016/7/layout/BasicLinearProcessNumbered"/>
    <dgm:cxn modelId="{FD78B25C-00D3-47F9-B261-CA75AB4084EA}" type="presOf" srcId="{89804E5B-118E-4AEC-9C1C-565715BBA714}" destId="{4F0F2F32-2477-49CF-A7B3-B10A966AAE8D}" srcOrd="1" destOrd="0" presId="urn:microsoft.com/office/officeart/2016/7/layout/BasicLinearProcessNumbered"/>
    <dgm:cxn modelId="{8A6CE467-4337-4DF4-8157-AC2A933978B3}" srcId="{CC0E67D8-F598-40C7-A3FB-56DC71AB32F0}" destId="{89804E5B-118E-4AEC-9C1C-565715BBA714}" srcOrd="1" destOrd="0" parTransId="{766507E6-3FDB-4495-BB08-42393FFBDB55}" sibTransId="{19A49D78-6D01-45DA-8A01-516C7FE356D3}"/>
    <dgm:cxn modelId="{77F1016C-FBD3-41FC-BDB2-5D642F0EF388}" type="presOf" srcId="{5234263E-404E-4696-AD36-CE698930E537}" destId="{2CD9EDFC-BCCC-4270-A19C-279F9B396482}" srcOrd="1" destOrd="0" presId="urn:microsoft.com/office/officeart/2016/7/layout/BasicLinearProcessNumbered"/>
    <dgm:cxn modelId="{54ABAC79-ACEE-40AE-9B05-93C086E78ABA}" type="presOf" srcId="{CC0E67D8-F598-40C7-A3FB-56DC71AB32F0}" destId="{FE5A6082-EBE3-4407-88EA-CB5CA2BF0C92}" srcOrd="0" destOrd="0" presId="urn:microsoft.com/office/officeart/2016/7/layout/BasicLinearProcessNumbered"/>
    <dgm:cxn modelId="{58FF1287-91F5-481B-BCE1-9AAAD21C3DA3}" type="presOf" srcId="{5234263E-404E-4696-AD36-CE698930E537}" destId="{D3BEB1E8-A23F-4128-8B24-484A83936D77}" srcOrd="0" destOrd="0" presId="urn:microsoft.com/office/officeart/2016/7/layout/BasicLinearProcessNumbered"/>
    <dgm:cxn modelId="{DE61D38F-D36F-4085-81C5-074954141E02}" type="presOf" srcId="{CC5A8FE4-9AB9-43B4-9CAB-1AEF66D2F296}" destId="{381A0E7B-CBB9-4D29-B439-F9E27F05005F}" srcOrd="1" destOrd="0" presId="urn:microsoft.com/office/officeart/2016/7/layout/BasicLinearProcessNumbered"/>
    <dgm:cxn modelId="{7E3CD79F-C7E1-476B-89C6-E11F76D1CC12}" type="presOf" srcId="{19A49D78-6D01-45DA-8A01-516C7FE356D3}" destId="{EC1A672E-614D-482F-B670-E456F30FAA1F}" srcOrd="0" destOrd="0" presId="urn:microsoft.com/office/officeart/2016/7/layout/BasicLinearProcessNumbered"/>
    <dgm:cxn modelId="{A1AC3ED2-478F-478F-875E-80388EF8048C}" type="presOf" srcId="{89804E5B-118E-4AEC-9C1C-565715BBA714}" destId="{FBCA2C97-6247-48EE-9393-706C85DC977D}" srcOrd="0" destOrd="0" presId="urn:microsoft.com/office/officeart/2016/7/layout/BasicLinearProcessNumbered"/>
    <dgm:cxn modelId="{01E690A7-BE5F-472D-8CD5-DF489C25C035}" type="presParOf" srcId="{FE5A6082-EBE3-4407-88EA-CB5CA2BF0C92}" destId="{B85A39C5-06C9-457B-8F56-46A8EBA3DD6B}" srcOrd="0" destOrd="0" presId="urn:microsoft.com/office/officeart/2016/7/layout/BasicLinearProcessNumbered"/>
    <dgm:cxn modelId="{BEB7AEA7-AD4F-483C-8BCB-68252339C774}" type="presParOf" srcId="{B85A39C5-06C9-457B-8F56-46A8EBA3DD6B}" destId="{E91DD348-B6E4-4930-9CEC-DEED177C23E7}" srcOrd="0" destOrd="0" presId="urn:microsoft.com/office/officeart/2016/7/layout/BasicLinearProcessNumbered"/>
    <dgm:cxn modelId="{41EC2D3B-12C7-4B8D-AA54-80C1F11F66FA}" type="presParOf" srcId="{B85A39C5-06C9-457B-8F56-46A8EBA3DD6B}" destId="{411A7A1B-88B8-4996-9CE2-D1F8E6DA4B25}" srcOrd="1" destOrd="0" presId="urn:microsoft.com/office/officeart/2016/7/layout/BasicLinearProcessNumbered"/>
    <dgm:cxn modelId="{113C3D27-D921-4899-BDC3-497C1CFDCC84}" type="presParOf" srcId="{B85A39C5-06C9-457B-8F56-46A8EBA3DD6B}" destId="{7DA27DF4-A7AD-4FE8-B096-27C9CAEEED6A}" srcOrd="2" destOrd="0" presId="urn:microsoft.com/office/officeart/2016/7/layout/BasicLinearProcessNumbered"/>
    <dgm:cxn modelId="{54419195-4A57-4AFC-8C8D-58648F3ADEBF}" type="presParOf" srcId="{B85A39C5-06C9-457B-8F56-46A8EBA3DD6B}" destId="{381A0E7B-CBB9-4D29-B439-F9E27F05005F}" srcOrd="3" destOrd="0" presId="urn:microsoft.com/office/officeart/2016/7/layout/BasicLinearProcessNumbered"/>
    <dgm:cxn modelId="{CD250528-FBD7-477F-B2DF-F5EC07145A27}" type="presParOf" srcId="{FE5A6082-EBE3-4407-88EA-CB5CA2BF0C92}" destId="{DD1F72A2-0645-4129-B6DE-7D6B0B3F3821}" srcOrd="1" destOrd="0" presId="urn:microsoft.com/office/officeart/2016/7/layout/BasicLinearProcessNumbered"/>
    <dgm:cxn modelId="{6EA81240-0AB2-437B-9AF3-17E406B2937B}" type="presParOf" srcId="{FE5A6082-EBE3-4407-88EA-CB5CA2BF0C92}" destId="{232F39D3-AFBA-479E-8D69-A2193CFA2FD5}" srcOrd="2" destOrd="0" presId="urn:microsoft.com/office/officeart/2016/7/layout/BasicLinearProcessNumbered"/>
    <dgm:cxn modelId="{0D271D22-DE89-4A01-BF33-7E90090E35A8}" type="presParOf" srcId="{232F39D3-AFBA-479E-8D69-A2193CFA2FD5}" destId="{FBCA2C97-6247-48EE-9393-706C85DC977D}" srcOrd="0" destOrd="0" presId="urn:microsoft.com/office/officeart/2016/7/layout/BasicLinearProcessNumbered"/>
    <dgm:cxn modelId="{7B6341F5-3739-4EF9-BAD1-65BD6136916E}" type="presParOf" srcId="{232F39D3-AFBA-479E-8D69-A2193CFA2FD5}" destId="{EC1A672E-614D-482F-B670-E456F30FAA1F}" srcOrd="1" destOrd="0" presId="urn:microsoft.com/office/officeart/2016/7/layout/BasicLinearProcessNumbered"/>
    <dgm:cxn modelId="{64095F4D-96D5-4576-A8FE-3C998C8AA4BF}" type="presParOf" srcId="{232F39D3-AFBA-479E-8D69-A2193CFA2FD5}" destId="{56AEA699-728C-4D97-964D-01C7AE41085E}" srcOrd="2" destOrd="0" presId="urn:microsoft.com/office/officeart/2016/7/layout/BasicLinearProcessNumbered"/>
    <dgm:cxn modelId="{CCB69DE2-C00B-40B0-B14A-1973188D73B0}" type="presParOf" srcId="{232F39D3-AFBA-479E-8D69-A2193CFA2FD5}" destId="{4F0F2F32-2477-49CF-A7B3-B10A966AAE8D}" srcOrd="3" destOrd="0" presId="urn:microsoft.com/office/officeart/2016/7/layout/BasicLinearProcessNumbered"/>
    <dgm:cxn modelId="{761FA04A-34AC-4590-A2B5-AECB0DC4F526}" type="presParOf" srcId="{FE5A6082-EBE3-4407-88EA-CB5CA2BF0C92}" destId="{2588E76D-FD90-450E-B792-0C2D3FF2C28B}" srcOrd="3" destOrd="0" presId="urn:microsoft.com/office/officeart/2016/7/layout/BasicLinearProcessNumbered"/>
    <dgm:cxn modelId="{27B57C12-8517-4B8B-8F34-6ECFB8F5B8B5}" type="presParOf" srcId="{FE5A6082-EBE3-4407-88EA-CB5CA2BF0C92}" destId="{48A9F4C8-AD2D-4460-8BAE-6C5AE89EA4D5}" srcOrd="4" destOrd="0" presId="urn:microsoft.com/office/officeart/2016/7/layout/BasicLinearProcessNumbered"/>
    <dgm:cxn modelId="{64757513-8D04-453B-8613-0D98AB45B38E}" type="presParOf" srcId="{48A9F4C8-AD2D-4460-8BAE-6C5AE89EA4D5}" destId="{D3BEB1E8-A23F-4128-8B24-484A83936D77}" srcOrd="0" destOrd="0" presId="urn:microsoft.com/office/officeart/2016/7/layout/BasicLinearProcessNumbered"/>
    <dgm:cxn modelId="{EFEAC639-08C6-4D03-9570-8FDE7CFD91C6}" type="presParOf" srcId="{48A9F4C8-AD2D-4460-8BAE-6C5AE89EA4D5}" destId="{780FED5A-6F5A-4DE4-AAFA-C890C7A40A68}" srcOrd="1" destOrd="0" presId="urn:microsoft.com/office/officeart/2016/7/layout/BasicLinearProcessNumbered"/>
    <dgm:cxn modelId="{538165F0-B20A-4ADA-A1FA-592DE645EA18}" type="presParOf" srcId="{48A9F4C8-AD2D-4460-8BAE-6C5AE89EA4D5}" destId="{F526DA66-7E6A-46EA-92C5-4683F5ED235D}" srcOrd="2" destOrd="0" presId="urn:microsoft.com/office/officeart/2016/7/layout/BasicLinearProcessNumbered"/>
    <dgm:cxn modelId="{0591CB19-A571-467F-85C3-6B8F4A089CCC}" type="presParOf" srcId="{48A9F4C8-AD2D-4460-8BAE-6C5AE89EA4D5}" destId="{2CD9EDFC-BCCC-4270-A19C-279F9B39648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DD348-B6E4-4930-9CEC-DEED177C23E7}">
      <dsp:nvSpPr>
        <dsp:cNvPr id="0" name=""/>
        <dsp:cNvSpPr/>
      </dsp:nvSpPr>
      <dsp:spPr>
        <a:xfrm>
          <a:off x="0" y="0"/>
          <a:ext cx="3446859" cy="38142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731" tIns="330200" rIns="26873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Defend and deepen share in high-performing counties, especially Polk</a:t>
          </a:r>
        </a:p>
      </dsp:txBody>
      <dsp:txXfrm>
        <a:off x="0" y="1449426"/>
        <a:ext cx="3446859" cy="2288568"/>
      </dsp:txXfrm>
    </dsp:sp>
    <dsp:sp modelId="{411A7A1B-88B8-4996-9CE2-D1F8E6DA4B25}">
      <dsp:nvSpPr>
        <dsp:cNvPr id="0" name=""/>
        <dsp:cNvSpPr/>
      </dsp:nvSpPr>
      <dsp:spPr>
        <a:xfrm>
          <a:off x="1151287" y="381428"/>
          <a:ext cx="1144284" cy="114428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213" tIns="12700" rIns="892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18864" y="549005"/>
        <a:ext cx="809130" cy="809130"/>
      </dsp:txXfrm>
    </dsp:sp>
    <dsp:sp modelId="{7DA27DF4-A7AD-4FE8-B096-27C9CAEEED6A}">
      <dsp:nvSpPr>
        <dsp:cNvPr id="0" name=""/>
        <dsp:cNvSpPr/>
      </dsp:nvSpPr>
      <dsp:spPr>
        <a:xfrm>
          <a:off x="0" y="3814209"/>
          <a:ext cx="3446859" cy="72"/>
        </a:xfrm>
        <a:prstGeom prst="rect">
          <a:avLst/>
        </a:prstGeom>
        <a:solidFill>
          <a:schemeClr val="accent2">
            <a:hueOff val="1858335"/>
            <a:satOff val="-9522"/>
            <a:lumOff val="-4824"/>
            <a:alphaOff val="0"/>
          </a:schemeClr>
        </a:solidFill>
        <a:ln w="22225" cap="rnd" cmpd="sng" algn="ctr">
          <a:solidFill>
            <a:schemeClr val="accent2">
              <a:hueOff val="1858335"/>
              <a:satOff val="-9522"/>
              <a:lumOff val="-4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A2C97-6247-48EE-9393-706C85DC977D}">
      <dsp:nvSpPr>
        <dsp:cNvPr id="0" name=""/>
        <dsp:cNvSpPr/>
      </dsp:nvSpPr>
      <dsp:spPr>
        <a:xfrm>
          <a:off x="3791545" y="0"/>
          <a:ext cx="3446859" cy="3814281"/>
        </a:xfrm>
        <a:prstGeom prst="rect">
          <a:avLst/>
        </a:prstGeom>
        <a:solidFill>
          <a:schemeClr val="accent2">
            <a:tint val="40000"/>
            <a:alpha val="90000"/>
            <a:hueOff val="4874071"/>
            <a:satOff val="-26624"/>
            <a:lumOff val="-3161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4874071"/>
              <a:satOff val="-26624"/>
              <a:lumOff val="-31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731" tIns="330200" rIns="26873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Prioritize flagship items, led by Fireball Cinnamon Whiskey</a:t>
          </a:r>
        </a:p>
      </dsp:txBody>
      <dsp:txXfrm>
        <a:off x="3791545" y="1449426"/>
        <a:ext cx="3446859" cy="2288568"/>
      </dsp:txXfrm>
    </dsp:sp>
    <dsp:sp modelId="{EC1A672E-614D-482F-B670-E456F30FAA1F}">
      <dsp:nvSpPr>
        <dsp:cNvPr id="0" name=""/>
        <dsp:cNvSpPr/>
      </dsp:nvSpPr>
      <dsp:spPr>
        <a:xfrm>
          <a:off x="4942832" y="381428"/>
          <a:ext cx="1144284" cy="1144284"/>
        </a:xfrm>
        <a:prstGeom prst="ellipse">
          <a:avLst/>
        </a:prstGeom>
        <a:solidFill>
          <a:schemeClr val="accent2">
            <a:hueOff val="3716670"/>
            <a:satOff val="-19045"/>
            <a:lumOff val="-9647"/>
            <a:alphaOff val="0"/>
          </a:schemeClr>
        </a:solidFill>
        <a:ln w="22225" cap="rnd" cmpd="sng" algn="ctr">
          <a:solidFill>
            <a:schemeClr val="accent2">
              <a:hueOff val="3716670"/>
              <a:satOff val="-19045"/>
              <a:lumOff val="-9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213" tIns="12700" rIns="892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110409" y="549005"/>
        <a:ext cx="809130" cy="809130"/>
      </dsp:txXfrm>
    </dsp:sp>
    <dsp:sp modelId="{56AEA699-728C-4D97-964D-01C7AE41085E}">
      <dsp:nvSpPr>
        <dsp:cNvPr id="0" name=""/>
        <dsp:cNvSpPr/>
      </dsp:nvSpPr>
      <dsp:spPr>
        <a:xfrm>
          <a:off x="3791545" y="3814209"/>
          <a:ext cx="3446859" cy="72"/>
        </a:xfrm>
        <a:prstGeom prst="rect">
          <a:avLst/>
        </a:prstGeom>
        <a:solidFill>
          <a:schemeClr val="accent2">
            <a:hueOff val="5575005"/>
            <a:satOff val="-28567"/>
            <a:lumOff val="-14471"/>
            <a:alphaOff val="0"/>
          </a:schemeClr>
        </a:solidFill>
        <a:ln w="22225" cap="rnd" cmpd="sng" algn="ctr">
          <a:solidFill>
            <a:schemeClr val="accent2">
              <a:hueOff val="5575005"/>
              <a:satOff val="-28567"/>
              <a:lumOff val="-14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EB1E8-A23F-4128-8B24-484A83936D77}">
      <dsp:nvSpPr>
        <dsp:cNvPr id="0" name=""/>
        <dsp:cNvSpPr/>
      </dsp:nvSpPr>
      <dsp:spPr>
        <a:xfrm>
          <a:off x="7583090" y="0"/>
          <a:ext cx="3446859" cy="3814281"/>
        </a:xfrm>
        <a:prstGeom prst="rect">
          <a:avLst/>
        </a:prstGeom>
        <a:solidFill>
          <a:schemeClr val="accent2">
            <a:tint val="40000"/>
            <a:alpha val="90000"/>
            <a:hueOff val="9748142"/>
            <a:satOff val="-53248"/>
            <a:lumOff val="-6323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9748142"/>
              <a:satOff val="-53248"/>
              <a:lumOff val="-63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731" tIns="330200" rIns="26873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Expand selectively in mid-tier and urban market segments where demand is already visible</a:t>
          </a:r>
        </a:p>
      </dsp:txBody>
      <dsp:txXfrm>
        <a:off x="7583090" y="1449426"/>
        <a:ext cx="3446859" cy="2288568"/>
      </dsp:txXfrm>
    </dsp:sp>
    <dsp:sp modelId="{780FED5A-6F5A-4DE4-AAFA-C890C7A40A68}">
      <dsp:nvSpPr>
        <dsp:cNvPr id="0" name=""/>
        <dsp:cNvSpPr/>
      </dsp:nvSpPr>
      <dsp:spPr>
        <a:xfrm>
          <a:off x="8734378" y="381428"/>
          <a:ext cx="1144284" cy="1144284"/>
        </a:xfrm>
        <a:prstGeom prst="ellipse">
          <a:avLst/>
        </a:prstGeom>
        <a:solidFill>
          <a:schemeClr val="accent2">
            <a:hueOff val="7433340"/>
            <a:satOff val="-38090"/>
            <a:lumOff val="-19294"/>
            <a:alphaOff val="0"/>
          </a:schemeClr>
        </a:solidFill>
        <a:ln w="22225" cap="rnd" cmpd="sng" algn="ctr">
          <a:solidFill>
            <a:schemeClr val="accent2">
              <a:hueOff val="7433340"/>
              <a:satOff val="-38090"/>
              <a:lumOff val="-19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213" tIns="12700" rIns="892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901955" y="549005"/>
        <a:ext cx="809130" cy="809130"/>
      </dsp:txXfrm>
    </dsp:sp>
    <dsp:sp modelId="{F526DA66-7E6A-46EA-92C5-4683F5ED235D}">
      <dsp:nvSpPr>
        <dsp:cNvPr id="0" name=""/>
        <dsp:cNvSpPr/>
      </dsp:nvSpPr>
      <dsp:spPr>
        <a:xfrm>
          <a:off x="7583090" y="3814209"/>
          <a:ext cx="3446859" cy="72"/>
        </a:xfrm>
        <a:prstGeom prst="rect">
          <a:avLst/>
        </a:prstGeom>
        <a:solidFill>
          <a:schemeClr val="accent2">
            <a:hueOff val="9291674"/>
            <a:satOff val="-47612"/>
            <a:lumOff val="-24118"/>
            <a:alphaOff val="0"/>
          </a:schemeClr>
        </a:solidFill>
        <a:ln w="22225" cap="rnd" cmpd="sng" algn="ctr">
          <a:solidFill>
            <a:schemeClr val="accent2">
              <a:hueOff val="9291674"/>
              <a:satOff val="-47612"/>
              <a:lumOff val="-24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DE8A7-D9F4-4B35-8CF4-7BE031924BD2}" type="datetimeFigureOut"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18225-0BE6-408A-8201-82F34A7FAA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4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A1C1F"/>
                </a:solidFill>
                <a:highlight>
                  <a:srgbClr val="FFFFFF"/>
                </a:highlight>
              </a:rPr>
              <a:t>This presentation analyzes Sazerac’s sales performance using the Iowa Liquor Sales database and frames the results through a SWOT lens.</a:t>
            </a:r>
            <a:endParaRPr lang="en-US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25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A1C1F"/>
                </a:solidFill>
                <a:highlight>
                  <a:srgbClr val="FFFFFF"/>
                </a:highlight>
              </a:rPr>
              <a:t>My goal was to use SQL to translate raw sales data into business findings that are useful for decision-making.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77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A1C1F"/>
                </a:solidFill>
                <a:highlight>
                  <a:srgbClr val="FFFFFF"/>
                </a:highlight>
              </a:rPr>
              <a:t>The analysis combines transaction data with product, store, and county reference tables to evaluate Sazerac from multiple business angles.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70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A1C1F"/>
                </a:solidFill>
                <a:highlight>
                  <a:srgbClr val="FFFFFF"/>
                </a:highlight>
              </a:rPr>
              <a:t>This chart shows where Sazerac performs best geographically. Polk County is the strongest market by a wide margin, followed by other high-revenue counties such as Linn and Scott.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3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1A1C1F"/>
                </a:solidFill>
                <a:highlight>
                  <a:srgbClr val="FFFFFF"/>
                </a:highlight>
              </a:rPr>
              <a:t>This chart is useful not only for identifying top partners, but also for showing concentration risk. If a few stores account for a disproportionate share of revenue, Sazerac’s performance becomes more exposed to changes at those retail partners.”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9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A1C1F"/>
                </a:solidFill>
                <a:highlight>
                  <a:srgbClr val="FFFFFF"/>
                </a:highlight>
              </a:rPr>
              <a:t>This chart focuses on the mid-tier bottle cost bracket. The opportunity here is that Sazerac already has products performing in this price segment, so there may be room to strengthen positioning around value-oriented but profitable items.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57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1A1C1F"/>
                </a:solidFill>
                <a:highlight>
                  <a:srgbClr val="FFFFFF"/>
                </a:highlight>
              </a:rPr>
              <a:t>This comparison helps frame the competitive environment. Canadian Whiskies materially outperform Blended Whiskies in this dataset, which indicates a stronger substitute category space and highlights where competition for share is most relevant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75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A1C1F"/>
                </a:solidFill>
                <a:highlight>
                  <a:srgbClr val="FFFFFF"/>
                </a:highlight>
              </a:rPr>
              <a:t>My recommendation is to protect the core first, especially strong counties and hero products, while using mid-tier pricing and urban-market demand as the main levers for targeted growth.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8225-0BE6-408A-8201-82F34A7FAA2F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70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89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53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31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86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5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9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5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6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6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2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37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3248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6" r:id="rId6"/>
    <p:sldLayoutId id="2147483762" r:id="rId7"/>
    <p:sldLayoutId id="2147483763" r:id="rId8"/>
    <p:sldLayoutId id="2147483764" r:id="rId9"/>
    <p:sldLayoutId id="2147483765" r:id="rId10"/>
    <p:sldLayoutId id="2147483767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6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A71294-C247-450A-BB34-6E68648C9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6A0BA4-6A63-41D3-B0FA-43799ABC4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895" y="1614299"/>
            <a:ext cx="5117991" cy="259006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endParaRPr lang="en-US" sz="3150">
              <a:solidFill>
                <a:schemeClr val="tx1"/>
              </a:solidFill>
              <a:highlight>
                <a:srgbClr val="FFFFFF"/>
              </a:highlight>
              <a:latin typeface="Lucida Sans"/>
            </a:endParaRPr>
          </a:p>
          <a:p>
            <a:pPr>
              <a:lnSpc>
                <a:spcPct val="90000"/>
              </a:lnSpc>
            </a:pPr>
            <a:r>
              <a:rPr lang="en-US" sz="3150">
                <a:solidFill>
                  <a:schemeClr val="tx1"/>
                </a:solidFill>
              </a:rPr>
              <a:t>Sazerac SWOT Analysis Using Iowa Liquor Sales Data</a:t>
            </a:r>
            <a:br>
              <a:rPr lang="en-US" sz="3150">
                <a:solidFill>
                  <a:schemeClr val="tx1"/>
                </a:solidFill>
              </a:rPr>
            </a:br>
            <a:endParaRPr lang="en-US" sz="315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9894" y="4286251"/>
            <a:ext cx="5117991" cy="767685"/>
          </a:xfr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z="2100">
                <a:solidFill>
                  <a:schemeClr val="tx1">
                    <a:alpha val="60000"/>
                  </a:schemeClr>
                </a:solidFill>
              </a:rPr>
              <a:t>By: Mina Saeday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3313D8-D259-4D89-9CE5-14884FB4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2964" y="1200152"/>
            <a:ext cx="5074920" cy="68579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8E165-700C-42CB-6B8C-A878A3B8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18" r="29979" b="9"/>
          <a:stretch>
            <a:fillRect/>
          </a:stretch>
        </p:blipFill>
        <p:spPr>
          <a:xfrm>
            <a:off x="7629322" y="857258"/>
            <a:ext cx="3038679" cy="514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2691" y="1308150"/>
            <a:ext cx="5623962" cy="434202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ADCCB-EED9-5789-4941-56019A78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671" y="1560767"/>
            <a:ext cx="4985929" cy="8915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AC00-D883-3AB7-16FE-A73C7BC03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670" y="2612898"/>
            <a:ext cx="5018132" cy="2844928"/>
          </a:xfrm>
        </p:spPr>
        <p:txBody>
          <a:bodyPr>
            <a:normAutofit/>
          </a:bodyPr>
          <a:lstStyle/>
          <a:p>
            <a:pPr marL="229076" indent="-229076"/>
            <a:r>
              <a:rPr lang="en-US">
                <a:solidFill>
                  <a:srgbClr val="FFFFFF"/>
                </a:solidFill>
              </a:rPr>
              <a:t>Objective:evaluate Szerac's market position using transaction level sales data</a:t>
            </a:r>
          </a:p>
          <a:p>
            <a:pPr marL="229076" indent="-229076"/>
            <a:r>
              <a:rPr lang="en-US">
                <a:solidFill>
                  <a:srgbClr val="FFFFFF"/>
                </a:solidFill>
              </a:rPr>
              <a:t>Method: SQL analysis in PG admin, visual summaries in Excel</a:t>
            </a:r>
          </a:p>
          <a:p>
            <a:pPr marL="229076" indent="-229076"/>
            <a:r>
              <a:rPr lang="en-US">
                <a:solidFill>
                  <a:srgbClr val="FFFFFF"/>
                </a:solidFill>
              </a:rPr>
              <a:t>Focus: strengths,weaknesses,opportunities,and threars tied to revenue,products,geography, and competition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19241800-9338-3378-455C-D616EBABE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1572" y="2394266"/>
            <a:ext cx="2290067" cy="229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35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2" y="857251"/>
            <a:ext cx="9143999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305482"/>
            <a:ext cx="2777490" cy="434469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BDB6C-710C-02A4-4B1A-24F2834A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362" y="1635726"/>
            <a:ext cx="2290568" cy="353184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Summary Stats for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81792-9E83-72C5-2565-392DAED5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202" y="1635726"/>
            <a:ext cx="5044424" cy="3615624"/>
          </a:xfrm>
        </p:spPr>
        <p:txBody>
          <a:bodyPr>
            <a:normAutofit/>
          </a:bodyPr>
          <a:lstStyle/>
          <a:p>
            <a:pPr marL="229076" indent="-229076"/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Database tables used: sales, products, stores, counties</a:t>
            </a:r>
            <a:endParaRPr lang="en-US"/>
          </a:p>
          <a:p>
            <a:pPr marL="229076" indent="-229076"/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Primary focus: vendor = Sazerac</a:t>
            </a:r>
            <a:endParaRPr lang="en-US"/>
          </a:p>
          <a:p>
            <a:pPr marL="229076" indent="-229076"/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Key fields analyzed: revenue, product description, county, store, bottle cost, category</a:t>
            </a:r>
            <a:endParaRPr lang="en-US"/>
          </a:p>
          <a:p>
            <a:pPr marL="229076" indent="-229076"/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Tools used: PostgreSQL/</a:t>
            </a:r>
            <a:r>
              <a:rPr lang="en-US" err="1">
                <a:highlight>
                  <a:srgbClr val="FFFFFF"/>
                </a:highlight>
                <a:ea typeface="+mn-lt"/>
                <a:cs typeface="+mn-lt"/>
              </a:rPr>
              <a:t>pgAdmin</a:t>
            </a:r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 and Excel</a:t>
            </a:r>
            <a:endParaRPr lang="en-US" dirty="0"/>
          </a:p>
          <a:p>
            <a:pPr marL="229076" indent="-229076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4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C09D0-DFC4-9041-DED1-70BC3660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430" y="1383868"/>
            <a:ext cx="2676496" cy="952285"/>
          </a:xfr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25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</a:rPr>
              <a:t>Strength: Strong Geographic Performance</a:t>
            </a:r>
            <a:endParaRPr lang="en-US" sz="1125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br>
              <a:rPr lang="en-US" sz="1125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125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2966" y="1200152"/>
            <a:ext cx="2633425" cy="6857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F8DE7-35C5-39C2-38F4-20AA3010A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81430" y="2612899"/>
            <a:ext cx="2676496" cy="2725865"/>
          </a:xfr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>
              <a:buFont typeface="Wingdings 2" panose="05020102010507070707" pitchFamily="18" charset="2"/>
              <a:buChar char="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14313" indent="-214313">
              <a:buFont typeface="Arial"/>
              <a:buChar char="•"/>
            </a:pPr>
            <a:r>
              <a:rPr lang="en-US" sz="2400">
                <a:solidFill>
                  <a:srgbClr val="1A1C1F"/>
                </a:solidFill>
                <a:highlight>
                  <a:srgbClr val="FFFFFF"/>
                </a:highlight>
                <a:ea typeface="+mn-lt"/>
                <a:cs typeface="+mn-lt"/>
              </a:rPr>
              <a:t>Sazerac</a:t>
            </a:r>
            <a:r>
              <a:rPr lang="en-US" sz="2400" dirty="0">
                <a:solidFill>
                  <a:srgbClr val="1A1C1F"/>
                </a:solidFill>
                <a:highlight>
                  <a:srgbClr val="FFFFFF"/>
                </a:highlight>
                <a:ea typeface="+mn-lt"/>
                <a:cs typeface="+mn-lt"/>
              </a:rPr>
              <a:t> revenue is concentrated in high-performing counties, with Polk County clearly leading.</a:t>
            </a:r>
            <a:endParaRPr lang="en-US" sz="240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 graph of sales revenue&#10;&#10;AI-generated content may be incorrect.">
            <a:extLst>
              <a:ext uri="{FF2B5EF4-FFF2-40B4-BE49-F238E27FC236}">
                <a16:creationId xmlns:a16="http://schemas.microsoft.com/office/drawing/2014/main" id="{A2EEBB4F-4B84-2893-95A5-5614DC548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4255" y="1519481"/>
            <a:ext cx="6098314" cy="42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0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7E244-12DF-D62F-1E07-86548BF0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430" y="1383867"/>
            <a:ext cx="2676496" cy="891540"/>
          </a:xfrm>
        </p:spPr>
        <p:txBody>
          <a:bodyPr vert="horz" lIns="68580" tIns="34290" rIns="68580" bIns="34290" rtlCol="0" anchor="b">
            <a:normAutofit/>
          </a:bodyPr>
          <a:lstStyle/>
          <a:p>
            <a:r>
              <a:rPr lang="en-US" sz="675" b="1">
                <a:solidFill>
                  <a:srgbClr val="1A1C1F"/>
                </a:solidFill>
                <a:highlight>
                  <a:srgbClr val="FFFFFF"/>
                </a:highlight>
                <a:ea typeface="+mj-lt"/>
                <a:cs typeface="+mj-lt"/>
              </a:rPr>
              <a:t>Weakness: Revenue Concentration Across Stores</a:t>
            </a:r>
            <a:endParaRPr lang="en-US" b="1"/>
          </a:p>
          <a:p>
            <a:pPr>
              <a:lnSpc>
                <a:spcPct val="90000"/>
              </a:lnSpc>
            </a:pPr>
            <a:br>
              <a:rPr lang="en-US" dirty="0"/>
            </a:br>
            <a:endParaRPr lang="en-US" b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2966" y="1200152"/>
            <a:ext cx="2633425" cy="6857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9A30-4C7F-6987-DE67-10B4DA9E9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81430" y="2612899"/>
            <a:ext cx="2676496" cy="2725865"/>
          </a:xfrm>
        </p:spPr>
        <p:txBody>
          <a:bodyPr vert="horz" lIns="68580" tIns="34290" rIns="68580" bIns="34290" rtlCol="0" anchor="ctr">
            <a:normAutofit/>
          </a:bodyPr>
          <a:lstStyle/>
          <a:p>
            <a:pPr>
              <a:buFont typeface="Wingdings 2" panose="05020102010507070707" pitchFamily="18" charset="2"/>
              <a:buChar char=""/>
            </a:pPr>
            <a:endParaRPr lang="en-US" dirty="0"/>
          </a:p>
          <a:p>
            <a:pPr marL="214313" indent="-214313">
              <a:buFont typeface="Arial"/>
              <a:buChar char="•"/>
            </a:pPr>
            <a:r>
              <a:rPr lang="en-US" sz="750" dirty="0">
                <a:solidFill>
                  <a:srgbClr val="1A1C1F"/>
                </a:solidFill>
                <a:highlight>
                  <a:srgbClr val="FFFFFF"/>
                </a:highlight>
                <a:ea typeface="+mn-lt"/>
                <a:cs typeface="+mn-lt"/>
              </a:rPr>
              <a:t>A relatively small group of stores contributes a large share of revenue</a:t>
            </a:r>
            <a:endParaRPr lang="en-US" dirty="0"/>
          </a:p>
          <a:p>
            <a:pPr marL="214313" indent="-214313">
              <a:buFont typeface="Arial"/>
              <a:buChar char="•"/>
            </a:pPr>
            <a:r>
              <a:rPr lang="en-US" sz="750">
                <a:solidFill>
                  <a:srgbClr val="1A1C1F"/>
                </a:solidFill>
                <a:highlight>
                  <a:srgbClr val="FFFFFF"/>
                </a:highlight>
                <a:ea typeface="+mn-lt"/>
                <a:cs typeface="+mn-lt"/>
              </a:rPr>
              <a:t>This creates partner concentration risk</a:t>
            </a:r>
            <a:endParaRPr lang="en-US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C7C06A-0BD3-A515-E919-358B697B62B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6715" r="13599" b="-1"/>
          <a:stretch>
            <a:fillRect/>
          </a:stretch>
        </p:blipFill>
        <p:spPr>
          <a:xfrm>
            <a:off x="5014723" y="857258"/>
            <a:ext cx="5653279" cy="514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48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3A4C0-7A82-9F84-19C6-1BB9CAD6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Opportunity: Mid-Tier Price Segment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627E00-28BC-BFC9-28B9-A8D7D3404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pPr marL="229076" indent="-229076"/>
            <a:br>
              <a:rPr lang="en-US" dirty="0"/>
            </a:br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Mid-tier products generate meaningful revenue</a:t>
            </a:r>
            <a:endParaRPr lang="en-US"/>
          </a:p>
          <a:p>
            <a:pPr marL="229076" indent="-229076"/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A few items dominate within the $10–$20 state bottle cost range</a:t>
            </a:r>
            <a:endParaRPr lang="en-US"/>
          </a:p>
          <a:p>
            <a:pPr marL="229076" indent="-229076"/>
            <a:endParaRPr lang="en-US" dirty="0"/>
          </a:p>
        </p:txBody>
      </p:sp>
      <p:pic>
        <p:nvPicPr>
          <p:cNvPr id="5" name="Content Placeholder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B1490217-EDE5-6301-7264-55A31BF6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" r="20183" b="-1"/>
          <a:stretch>
            <a:fillRect/>
          </a:stretch>
        </p:blipFill>
        <p:spPr>
          <a:xfrm>
            <a:off x="5123995" y="702156"/>
            <a:ext cx="5795873" cy="52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8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E1A21-1582-BC47-E8BF-96789726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80" y="944752"/>
            <a:ext cx="3259016" cy="146269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dirty="0" err="1">
                <a:solidFill>
                  <a:schemeClr val="bg1">
                    <a:lumMod val="75000"/>
                    <a:lumOff val="25000"/>
                  </a:schemeClr>
                </a:solidFill>
              </a:rPr>
              <a:t>Threat:Competitive</a:t>
            </a:r>
            <a:r>
              <a:rPr lang="en-US" sz="28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Substitute Categories</a:t>
            </a:r>
            <a:endParaRPr lang="en-US" sz="2800" b="0" kern="1200" cap="all" dirty="0">
              <a:solidFill>
                <a:schemeClr val="bg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27652-88FC-0752-E8F1-F65E9785D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513" y="2536031"/>
            <a:ext cx="3123783" cy="367193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panose="05020102010507070707" pitchFamily="18" charset="2"/>
              <a:buChar char="•"/>
            </a:pPr>
            <a:r>
              <a:rPr lang="en-US" sz="2400" b="1" dirty="0">
                <a:solidFill>
                  <a:srgbClr val="1A1C1F"/>
                </a:solidFill>
                <a:highlight>
                  <a:srgbClr val="FFFFFF"/>
                </a:highlight>
              </a:rPr>
              <a:t>Canadian Whiskies generate substantially more revenue than Blended Whiskies</a:t>
            </a:r>
            <a:endParaRPr lang="en-US" sz="2400" b="1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>
              <a:buFont typeface="Arial" panose="05020102010507070707" pitchFamily="18" charset="2"/>
              <a:buChar char="•"/>
            </a:pPr>
            <a:r>
              <a:rPr lang="en-US" sz="2400" b="1" dirty="0">
                <a:solidFill>
                  <a:srgbClr val="1A1C1F"/>
                </a:solidFill>
                <a:highlight>
                  <a:srgbClr val="FFFFFF"/>
                </a:highlight>
              </a:rPr>
              <a:t>Category competition remains important in the substitute space</a:t>
            </a:r>
            <a:endParaRPr lang="en-US" sz="2400" b="1">
              <a:solidFill>
                <a:srgbClr val="FFFFFF"/>
              </a:solidFill>
            </a:endParaRPr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 descr="A graph showing a bar chart&#10;&#10;AI-generated content may be incorrect.">
            <a:extLst>
              <a:ext uri="{FF2B5EF4-FFF2-40B4-BE49-F238E27FC236}">
                <a16:creationId xmlns:a16="http://schemas.microsoft.com/office/drawing/2014/main" id="{781A38D6-7252-640B-BDFC-03035CDAD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31" b="-2"/>
          <a:stretch>
            <a:fillRect/>
          </a:stretch>
        </p:blipFill>
        <p:spPr>
          <a:xfrm>
            <a:off x="4241830" y="601200"/>
            <a:ext cx="7503636" cy="578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8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60F9-72C7-79DD-DF15-48E52DA1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SUMMARY AND RECOMENDATION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DA3095-048B-A0A6-12F1-581FD7121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870469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366489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Century School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DividendVTI</vt:lpstr>
      <vt:lpstr> Sazerac SWOT Analysis Using Iowa Liquor Sales Data </vt:lpstr>
      <vt:lpstr>scenario</vt:lpstr>
      <vt:lpstr>Summary Stats for DB</vt:lpstr>
      <vt:lpstr>Strength: Strong Geographic Performance  </vt:lpstr>
      <vt:lpstr>Weakness: Revenue Concentration Across Stores  </vt:lpstr>
      <vt:lpstr>Opportunity: Mid-Tier Price Segment</vt:lpstr>
      <vt:lpstr>Threat:Competitive Substitute Categories</vt:lpstr>
      <vt:lpstr>SUMMARY AND RECOMENDATION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212</cp:revision>
  <dcterms:created xsi:type="dcterms:W3CDTF">2026-04-30T19:56:26Z</dcterms:created>
  <dcterms:modified xsi:type="dcterms:W3CDTF">2026-05-01T06:23:23Z</dcterms:modified>
</cp:coreProperties>
</file>